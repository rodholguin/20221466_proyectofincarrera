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72" r:id="rId4"/>
    <p:sldId id="27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91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el avance de los tres objetivos. OE1 y OE2 están cerrados; OE3 está en curso, con PPO entrenado y evaluado.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costo de transacción no es un detalle de implementación: es la restricción que define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de conservación son la defensa contra errores silenciosos de contabilidad: un bug aquí contamina todos los resultados sin hacer fallar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barra gris es el mismo 1/N sin cobrarle costos: la diferencia entre gris y azul es el peaje.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2013-2025 este universo de acciones rindió menos que la tasa de referencia. Por eso la evaluación tiene que poder premiar al agente que decide no invertir.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trabajo difícil no fue extraer los datos sino fecharlos: cualquier dato que entre antes de ser público convierte el resultado en ficción.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conclusiones cualitativas sobrevivieron todas a la corrección; solo cambiaron las cifras.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anotación humana fue el bloqueante que ordenó la selección de modelo: sin ella el ranking estaba invertido.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semillas que se disparan hacia arriba son las que peor validan: esa es la tensión de la diapositiva de las tres vías.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3 semillas no se puede declarar ganador a ningún canal: la dispersión entre semillas es mayor que la diferencia entre configuraciones. Por eso la corrida final usa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observación pasa de 87 a 381 variables cuando se juntan los canales, con la misma red pequeña y la misma poca historia: esa es la hipótesis a contrastar con 10 semillas.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reorienta la tesis: el problema no está en el objetivo, ni en el presupuesto de cómputo, ni en la falta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protocolo se fijó antes de entrenar. Es lo que separa un backtest convincente de uno creíble.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negativo ya es un resultado: si la corrida definitiva lo confirma, es publicable como evidencia sobre mercados pequeños e ilíquidos.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002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de inversión que aprenden por refuerzo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971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Mercado, estados financieros y noticias en la Bolsa de Valores de Lima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los objetivos específicos 1, 2 y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Alejandro Holguin Huari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Asesor: Dr. Edwin Rafael Villanueva Talavera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e Ingeniería · 22 de septiembre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560832" cy="5608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" y="51816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3657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67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16736" y="633984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problemas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09600" y="1219200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EFECTO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9600" y="1511808"/>
            <a:ext cx="3572256" cy="1243584"/>
          </a:xfrm>
          <a:prstGeom prst="roundRect">
            <a:avLst>
              <a:gd name="adj" fmla="val 6863"/>
            </a:avLst>
          </a:prstGeom>
          <a:solidFill>
            <a:srgbClr val="F3F7F9"/>
          </a:solidFill>
          <a:ln/>
          <a:effectLst>
            <a:outerShdw blurRad="88900" dist="38100" dir="5400000" algn="bl" rotWithShape="0">
              <a:srgbClr val="0B2545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5904" y="1609344"/>
            <a:ext cx="853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533" dirty="0"/>
          </a:p>
        </p:txBody>
      </p:sp>
      <p:sp>
        <p:nvSpPr>
          <p:cNvPr id="9" name="Text 6"/>
          <p:cNvSpPr/>
          <p:nvPr/>
        </p:nvSpPr>
        <p:spPr>
          <a:xfrm>
            <a:off x="755904" y="1926336"/>
            <a:ext cx="327964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2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ajustados al riesgo subóptimos para los inversionistas en la BVL frente a lo alcanzable con métodos adaptativos basados en inteligencia artificial.</a:t>
            </a:r>
            <a:endParaRPr lang="en-US" sz="1027" dirty="0"/>
          </a:p>
        </p:txBody>
      </p:sp>
      <p:sp>
        <p:nvSpPr>
          <p:cNvPr id="10" name="Shape 7"/>
          <p:cNvSpPr/>
          <p:nvPr/>
        </p:nvSpPr>
        <p:spPr>
          <a:xfrm>
            <a:off x="4370832" y="1511808"/>
            <a:ext cx="3572256" cy="1243584"/>
          </a:xfrm>
          <a:prstGeom prst="roundRect">
            <a:avLst>
              <a:gd name="adj" fmla="val 6863"/>
            </a:avLst>
          </a:prstGeom>
          <a:solidFill>
            <a:srgbClr val="F3F7F9"/>
          </a:solidFill>
          <a:ln/>
          <a:effectLst>
            <a:outerShdw blurRad="88900" dist="38100" dir="5400000" algn="bl" rotWithShape="0">
              <a:srgbClr val="0B2545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17136" y="1609344"/>
            <a:ext cx="853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533" dirty="0"/>
          </a:p>
        </p:txBody>
      </p:sp>
      <p:sp>
        <p:nvSpPr>
          <p:cNvPr id="12" name="Text 9"/>
          <p:cNvSpPr/>
          <p:nvPr/>
        </p:nvSpPr>
        <p:spPr>
          <a:xfrm>
            <a:off x="4517136" y="1926336"/>
            <a:ext cx="327964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2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adopción de estrategias cuantitativas y algorítmicas en el mercado bursátil peruano, lo que limita la competitividad de los gestores de portafolios locales.</a:t>
            </a:r>
            <a:endParaRPr lang="en-US" sz="1027" dirty="0"/>
          </a:p>
        </p:txBody>
      </p:sp>
      <p:sp>
        <p:nvSpPr>
          <p:cNvPr id="13" name="Shape 10"/>
          <p:cNvSpPr/>
          <p:nvPr/>
        </p:nvSpPr>
        <p:spPr>
          <a:xfrm>
            <a:off x="8132064" y="1511808"/>
            <a:ext cx="3572256" cy="1243584"/>
          </a:xfrm>
          <a:prstGeom prst="roundRect">
            <a:avLst>
              <a:gd name="adj" fmla="val 6863"/>
            </a:avLst>
          </a:prstGeom>
          <a:solidFill>
            <a:srgbClr val="F3F7F9"/>
          </a:solidFill>
          <a:ln/>
          <a:effectLst>
            <a:outerShdw blurRad="88900" dist="38100" dir="5400000" algn="bl" rotWithShape="0">
              <a:srgbClr val="0B2545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78368" y="1609344"/>
            <a:ext cx="853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533" dirty="0"/>
          </a:p>
        </p:txBody>
      </p:sp>
      <p:sp>
        <p:nvSpPr>
          <p:cNvPr id="15" name="Text 12"/>
          <p:cNvSpPr/>
          <p:nvPr/>
        </p:nvSpPr>
        <p:spPr>
          <a:xfrm>
            <a:off x="8278368" y="1926336"/>
            <a:ext cx="327964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2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tecnológica creciente respecto a mercados donde el deep reinforcement learning ya se aplica con resultados favorables documentados.</a:t>
            </a:r>
            <a:endParaRPr lang="en-US" sz="1027" dirty="0"/>
          </a:p>
        </p:txBody>
      </p:sp>
      <p:sp>
        <p:nvSpPr>
          <p:cNvPr id="16" name="Shape 13"/>
          <p:cNvSpPr/>
          <p:nvPr/>
        </p:nvSpPr>
        <p:spPr>
          <a:xfrm>
            <a:off x="609600" y="2950464"/>
            <a:ext cx="10972800" cy="1158240"/>
          </a:xfrm>
          <a:prstGeom prst="roundRect">
            <a:avLst>
              <a:gd name="adj" fmla="val 6316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B2545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3440" y="3048000"/>
            <a:ext cx="365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3440" y="3304032"/>
            <a:ext cx="1048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09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evidencia empírica sobre el desempeño de agentes de deep reinforcement learning, entrenados con señales integradas de mercado, fundamentales y sentimiento, para la optimización dinámica de portafolios bajo las condiciones operativas propias de un mercado emergente como la Bolsa de Valores de Lima (altos costos de transacción, baja liquidez y alta concentración sectorial), las cuales impiden extrapolar directamente los resultados obtenidos en mercados desarrollados donde la técnica ya ha sido validada.</a:t>
            </a:r>
            <a:endParaRPr lang="en-US" sz="1093" dirty="0"/>
          </a:p>
        </p:txBody>
      </p:sp>
      <p:sp>
        <p:nvSpPr>
          <p:cNvPr id="19" name="Text 16"/>
          <p:cNvSpPr/>
          <p:nvPr/>
        </p:nvSpPr>
        <p:spPr>
          <a:xfrm>
            <a:off x="609600" y="4218432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CAUSA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9600" y="4511040"/>
            <a:ext cx="3572256" cy="2048256"/>
          </a:xfrm>
          <a:prstGeom prst="roundRect">
            <a:avLst>
              <a:gd name="adj" fmla="val 4167"/>
            </a:avLst>
          </a:prstGeom>
          <a:solidFill>
            <a:srgbClr val="E9F1F4"/>
          </a:solidFill>
          <a:ln/>
          <a:effectLst>
            <a:outerShdw blurRad="88900" dist="38100" dir="5400000" algn="bl" rotWithShape="0">
              <a:srgbClr val="0B2545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55904" y="4608576"/>
            <a:ext cx="853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533" dirty="0"/>
          </a:p>
        </p:txBody>
      </p:sp>
      <p:sp>
        <p:nvSpPr>
          <p:cNvPr id="22" name="Text 19"/>
          <p:cNvSpPr/>
          <p:nvPr/>
        </p:nvSpPr>
        <p:spPr>
          <a:xfrm>
            <a:off x="755904" y="4925568"/>
            <a:ext cx="3279648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02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existentes de optimización de portafolios mediante DRL emplean entornos de simulación calibrados para mercados desarrollados o emergentes de alta capitalización, cuyos supuestos operativos (costos de transacción bajos, alta liquidez y diversificación sectorial amplia) no representan el entorno operativo ni las condiciones de la BVL.</a:t>
            </a:r>
            <a:endParaRPr lang="en-US" sz="1027" dirty="0"/>
          </a:p>
        </p:txBody>
      </p:sp>
      <p:sp>
        <p:nvSpPr>
          <p:cNvPr id="23" name="Shape 20"/>
          <p:cNvSpPr/>
          <p:nvPr/>
        </p:nvSpPr>
        <p:spPr>
          <a:xfrm>
            <a:off x="4370832" y="4511040"/>
            <a:ext cx="3572256" cy="2048256"/>
          </a:xfrm>
          <a:prstGeom prst="roundRect">
            <a:avLst>
              <a:gd name="adj" fmla="val 4167"/>
            </a:avLst>
          </a:prstGeom>
          <a:solidFill>
            <a:srgbClr val="E9F1F4"/>
          </a:solidFill>
          <a:ln/>
          <a:effectLst>
            <a:outerShdw blurRad="88900" dist="38100" dir="5400000" algn="bl" rotWithShape="0">
              <a:srgbClr val="0B2545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17136" y="4608576"/>
            <a:ext cx="853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533" dirty="0"/>
          </a:p>
        </p:txBody>
      </p:sp>
      <p:sp>
        <p:nvSpPr>
          <p:cNvPr id="25" name="Text 22"/>
          <p:cNvSpPr/>
          <p:nvPr/>
        </p:nvSpPr>
        <p:spPr>
          <a:xfrm>
            <a:off x="4517136" y="4925568"/>
            <a:ext cx="3279648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02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información financiera diversa y potencialmente valiosa para el desarrollo de agentes de portafolios en la BVL (datos de mercado, indicadores fundamentales y noticias financieras locales), pero estas fuentes se encuentran dispersas y no han sido estructuradas ni integradas en un dataset unificado para su aprovechamiento por agentes DRL.</a:t>
            </a:r>
            <a:endParaRPr lang="en-US" sz="1027" dirty="0"/>
          </a:p>
        </p:txBody>
      </p:sp>
      <p:sp>
        <p:nvSpPr>
          <p:cNvPr id="26" name="Shape 23"/>
          <p:cNvSpPr/>
          <p:nvPr/>
        </p:nvSpPr>
        <p:spPr>
          <a:xfrm>
            <a:off x="8132064" y="4511040"/>
            <a:ext cx="3572256" cy="2048256"/>
          </a:xfrm>
          <a:prstGeom prst="roundRect">
            <a:avLst>
              <a:gd name="adj" fmla="val 4167"/>
            </a:avLst>
          </a:prstGeom>
          <a:solidFill>
            <a:srgbClr val="E9F1F4"/>
          </a:solidFill>
          <a:ln/>
          <a:effectLst>
            <a:outerShdw blurRad="88900" dist="38100" dir="5400000" algn="bl" rotWithShape="0">
              <a:srgbClr val="0B2545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278368" y="4608576"/>
            <a:ext cx="853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533" dirty="0"/>
          </a:p>
        </p:txBody>
      </p:sp>
      <p:sp>
        <p:nvSpPr>
          <p:cNvPr id="28" name="Text 25"/>
          <p:cNvSpPr/>
          <p:nvPr/>
        </p:nvSpPr>
        <p:spPr>
          <a:xfrm>
            <a:off x="8278368" y="4925568"/>
            <a:ext cx="3279648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02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bien diversos estudios han evaluado algoritmos DRL y combinaciones de señales de entrada en mercados desarrollados y algunos emergentes, no se ha realizado una evaluación comparativa que contraste el desempeño de estos algoritmos frente a estrategias tradicionales en la BVL, considerando distintas configuraciones de señales y múltiples métricas de desempeño (Sharpe ratio, Maximum Drawdown, retorno anualizado).</a:t>
            </a:r>
            <a:endParaRPr lang="en-US" sz="10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560832" cy="5608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" y="51816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3657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67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VERIFICACIÓN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16736" y="633984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 — IOV, MoV y métodos (OE1 y OE2)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87680" y="1280160"/>
          <a:ext cx="11216640" cy="5435725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 esperado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Indicador obj. verificable (IOV)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Medio de verificación (MoV)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Herramientas / Métodos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169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OE1 · Entorno de simulación que represente las condiciones de la BVL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R1. Informe de aplicación de la metodología CRISP-DM para el diseño del entorno de simulación de la BVL.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Las seis fases de CRISP-DM documentadas: definición del problema, inventario y diagnóstico de fuentes, criterios de éxito y plan de diseño.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Documento escrito con las seis fases desarrolladas.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CRISP-DM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R2. Entorno de simulación implementado con las condiciones operativas de la BVL.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El entorno ejecuta episodios completos con costos de transacción, restricciones de liquidez y universo de activos de la BVL sin errores.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Código fuente del entorno; pruebas unitarias ejecutadas.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CRISP-DM · Python · OpenAI Gym · FinRL · Stable-Baselines3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169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OE2 · Dataset unificado multi-fuente para la BVL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95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R3. Pipeline de recopilación y procesamiento de datos de mercado (OHLCV e indicadores técnicos).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Dataset de precios de cierre diarios con al menos 5 años de cobertura, sin valores faltantes significativos.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Código fuente; estadísticas descriptivas del dataset de precios.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API BVL · Pandas · Numpy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R4. Pipeline de extracción de indicadores fundamentales trimestrales.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Indicadores trimestrales (ROE, ROA, margen neto, deuda/patrimonio y deuda/activo) disponibles para el período de estudio.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Código fuente; muestra de datos validados manualmente.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API SMV · Pandas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R5. Pipeline de noticias en español y scores de sentimiento diarios vía LLM.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Scores de sentimiento diarios para el período de estudio con concordancia aceptable respecto a etiquetado manual.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Código fuente; métricas de calidad de clasificación en muestra manual.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PLN · API Media Cloud · Modelo de lenguaje local · Python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R6. Dataset unificado que integra las tres fuentes de señales.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Dataset integrado con las tres fuentes alineadas temporalmente, listo para consumo por el entorno de simulación.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Archivo consolidado; diccionario de datos; estadísticas descriptivas.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Pandas · Numpy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560832" cy="5608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" y="51816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3657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67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VERIFICACIÓN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16736" y="633984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 — IOV, MoV y métodos (OE3)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87680" y="1280161"/>
          <a:ext cx="11216640" cy="2758138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2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 esperado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Indicador obj. verificable (IOV)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Medio de verificación (MoV)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Herramientas / Métodos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196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OE3 · Evaluación comparativa de algoritmos DRL bajo distintas configuraciones de señales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R7. Agentes DRL entrenados con PPO, DDPG y SAC en el entorno de la BVL.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Convergencia estable de las curvas de recompensa en al menos 3 semillas por algoritmo.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Curvas de entrenamiento; modelos almacenados.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DRL · PyTorch · Stable-Baselines3 · FinRL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74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R8. Estudio comparativo de desempeño entre agentes DRL y estrategias baseline (Markowitz, Buy &amp; Hold, Equal Weight) bajo cuatro configuraciones de señales (solo mercado; mercado + sentimiento; mercado + fundamentales; combinación completa).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Métricas (Sharpe, MDD, retorno anualizado) calculadas para cada combinación de algoritmo, configuración de señales y baseline, con intervalos de confianza.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Tablas comparativas escenario × algoritmo × métrica; pruebas estadísticas.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</a:rPr>
                        <a:t>Backtesting walk-forward · Matplotlib · Seaborn</a:t>
                      </a:r>
                      <a:endParaRPr lang="en-US" sz="12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7680" y="5303520"/>
            <a:ext cx="11216640" cy="115824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" y="5547360"/>
            <a:ext cx="414528" cy="4145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41120" y="5425440"/>
            <a:ext cx="1011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configuraciones de señales del OE3 son </a:t>
            </a:r>
            <a:r>
              <a:rPr lang="en-US" sz="1267" b="1" dirty="0">
                <a:solidFill>
                  <a:srgbClr val="0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selecciones de columnas sobre el mismo panel unificado del OE2</a:t>
            </a:r>
            <a:r>
              <a:rPr lang="en-US" sz="1267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(R6) — no datasets separados. El dataset ya construido habilita directamente los experimentos comparativos.</a:t>
            </a:r>
            <a:endParaRPr lang="en-US" sz="12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BVL no es Wall Street: aquí operar cuesta caro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estudios de IA para inversión se hacen en mercados grandes y líquidos, donde operar es casi gratis. La pregunta de esta tesis es si un agente aprende algo útil cuando cada operación paga peaje.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45059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29184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días los 7 activos tienen precio propio el mismo día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9502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arrastra el precio anterior: no hubo operaciones que lo movieran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224028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36008" y="245059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0.08% → 2.2%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29184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rango del spread entre activos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9502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pierde solo por cruzar la punta: Alicorp contra Luz del Sur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66176" y="224028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85632" y="245059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S/40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329184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comisión mínima por orden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95020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órdenes chicas son carísimas: debajo de S/9,300 el costo fijo domina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530352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5321808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7 empresas de 7 sectores, 2012–2025, cartera de S/1.8 millones  ·  OE1 entorno: cerrado  ·  OE2 datos: cerrado  ·  OE3 agente: en curso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negociación: Informe Bursátil Mensual de la BVL. Spreads: puntas de compra y venta por activo.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ENTORNO DE SIMULACIÓN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+ R2 · Un simulador que cobra lo que cobra la BVL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estilo Gymnasium: en cada paso el agente observa el mercado, decide cómo reajustar la cartera, paga los costos de ese reajuste y recibe el retorno del día siguiente.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RELOJ, QUE ES LO QUE GARANTIZA EL REALISMO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− 1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7977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145536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hasta el cierre de ayer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21992" y="2907792"/>
            <a:ext cx="219456" cy="219456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2286000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23744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23744" y="277977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145536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rebalancea y paga costos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78808" y="2907792"/>
            <a:ext cx="219456" cy="219456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286000"/>
            <a:ext cx="1572768" cy="1463040"/>
          </a:xfrm>
          <a:prstGeom prst="roundRect">
            <a:avLst>
              <a:gd name="adj" fmla="val 375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+ 1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77977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3145536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el retorno del día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319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B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decisión puede usar información de su propio día de ejecución.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965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REGLAS QUE LO HACEN ECONÓMICAMENTE HONESTO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22860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56248" y="24871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activo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56248" y="2761488"/>
            <a:ext cx="2139696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paga su propio spread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79992" y="22860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81160" y="24871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opera sin mercado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761488"/>
            <a:ext cx="2139696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negoció, conserva su peso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338328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56248" y="35844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rinde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56248" y="3858768"/>
            <a:ext cx="2139696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sin invertir gana la tasa del BCRP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79992" y="338328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81160" y="35844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es un ajuste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281160" y="3858768"/>
            <a:ext cx="2139696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los pesos, no redefinirlos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89204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6384" y="4910328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pruebas automáticas. Con costo cero, «comprar y no tocar» replica exactamente comprar y mantener; una cartera 100% en caja crece exactamente a la tasa del BCRP.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D2, D7, D8, D9 y D13 del registro de decisiones de diseño.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DECISIÓN CLAVE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estrategias de referencia corren dentro del mismo simulador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4160520" cy="2103120"/>
          </a:xfrm>
          <a:prstGeom prst="roundRect">
            <a:avLst>
              <a:gd name="adj" fmla="val 26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6184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965960"/>
            <a:ext cx="3758184" cy="143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costos, mismas reglas, mismo simulador para el agente y sus rivales: la comparación es justa por construcción, no por revisión.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4160520" cy="1463040"/>
          </a:xfrm>
          <a:prstGeom prst="roundRect">
            <a:avLst>
              <a:gd name="adj" fmla="val 375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39044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cada uno con su mejor frecuencia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251960"/>
            <a:ext cx="3758184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Compararse contra un 1/N rebalanceado a diario sería ganarle a un rival mal implementado.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3949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−24 puntos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1264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el costo le quita al reparto igualitario diario: de +32.8% a +8.5% en 13 años</a:t>
            </a:r>
            <a:endParaRPr lang="en-US" sz="1200" dirty="0"/>
          </a:p>
        </p:txBody>
      </p:sp>
      <p:pic>
        <p:nvPicPr>
          <p:cNvPr id="12" name="Image 0" descr="C:\Users\LENOVO\AppData\Local\Temp\claude\C--tesis\43a24782-3ace-4495-b4b9-41628b7a23b5\scratchpad\figppt\f1_bas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84283"/>
            <a:ext cx="6766560" cy="347231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983480" y="58521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total y peor caída, 2013–2025, con costos reales. En verde, la caja remunerada.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RESULTADO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hallazgo incómodo: la caja le ganó a todo</a:t>
            </a:r>
            <a:endParaRPr lang="en-US" sz="2700" dirty="0"/>
          </a:p>
        </p:txBody>
      </p:sp>
      <p:pic>
        <p:nvPicPr>
          <p:cNvPr id="4" name="Image 0" descr="C:\Users\LENOVO\AppData\Local\Temp\claude\C--tesis\43a24782-3ace-4495-b4b9-41628b7a23b5\scratchpad\figppt\g1_evolucion_bas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5880"/>
            <a:ext cx="7315200" cy="32725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434840" y="5257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la cartera, 2013–2025 (inicio = 100), con costos reales.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1732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40.5%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240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rindió la caja remunerada, contra 31.0% de la mejor estrategia con acciones — y sin ninguna caída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34290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8096" y="36301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Markowitz: el argumento medido sobre un método clásico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4105656"/>
            <a:ext cx="3163824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S/1.18 MM en comisiones, el 65% del capital inicial, y tiene la peor caída de la tabla (−55%).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5641848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de diseño: la vara del agente no es el reparto igualitario, es el banco. Y si la caja no rindiera, el entorno le escondería al agente la estrategia que de hecho ganó.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 · DATOS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 a R6 · Un panel de 24,584 × 120 sin información del futuro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(R3)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965960"/>
            <a:ext cx="2276856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BVL, fuente oficial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retorno total (con dividendos y splits), indicadores técnicos y banderas de días sin negociación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1778508" y="3931920"/>
            <a:ext cx="256032" cy="256032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0712" y="141732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Fundamentales (R4)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965960"/>
            <a:ext cx="2276856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SMV, 2005–2025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ROE, ROA, margen neto, deuda/patrimonio, P/E y dividendos, más la sorpresa de cada resultado trimestral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4622292" y="3931920"/>
            <a:ext cx="256032" cy="256032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41732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(R5)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1965960"/>
            <a:ext cx="2276856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 peruana + LLM local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2,237 eventos relevantes clasificados por tipo y polaridad, resumidos en 9 series diarias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466076" y="3931920"/>
            <a:ext cx="256032" cy="256032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41732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9448" y="161848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1965960"/>
            <a:ext cx="2276856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BCRP y mercados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cambio, riesgo país, cobre, petróleo, S&amp;P 500 y MSCI Emergentes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10309860" y="3931920"/>
            <a:ext cx="256032" cy="256032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34340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R6 · Panel unificado    </a:t>
            </a:r>
            <a:r>
              <a:rPr lang="en-US" sz="1250" dirty="0">
                <a:solidFill>
                  <a:srgbClr val="CADCFC"/>
                </a:solidFill>
              </a:rPr>
              <a:t>24,584 filas × 120 columnas   ·   7 activos   ·   2 de enero de 2012 a 30 de diciembre de 2025   ·   sin valores faltantes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5440680"/>
            <a:ext cx="548640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8096" y="5641848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Point-in-time: cada dato entra el día en que se hizo público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5916168"/>
            <a:ext cx="50840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los estados financieros es la de su publicación real, tomada de los hechos de importancia de la BVL.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45936" y="5440680"/>
            <a:ext cx="5276088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47104" y="564184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macro se midió antes de incluirla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5916168"/>
            <a:ext cx="487375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cambio afecta a 7 de 7 empresas y el riesgo país a 6 de 7. El oro se eliminó: no afecta a ninguna.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 · CALIDAD DE DATOS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validación que encontró el error: contrastar contra otra fuente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5331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oficial de la BVL etiqueta cada cierre con la fecha del día hábil siguiente: el panel iba un día atrasado. Todas las validaciones internas pasaban, porque un panel corrido un día es perfectamente consistente consigo mismo.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FBECE8"/>
          </a:solidFill>
          <a:ln w="12700">
            <a:solidFill>
              <a:srgbClr val="FBE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39572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88336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−0.02 a 0.13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29184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retornos contra Bloomberg: ninguna relación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41648" y="224028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61104" y="239572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C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61104" y="2688336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0.885 a 0.986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261104" y="329184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activos pasan el umbral fijado de antemano (0.85)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16368" y="2240280"/>
            <a:ext cx="4215384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17536" y="244144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evento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17536" y="2788920"/>
            <a:ext cx="3813048" cy="1296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tras la segunda vuelta electoral de 2021 —Alicorp −15.1%, BCP −9.8%, Ferreycorp −15.3%— cae ahora en el lunes 7 de junio, que es la fecha económicamente correcta.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4348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EFECTO TUVO EN EL AGENTE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7365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iba rancio, no adelantado: el agente decidía con información de dos días antes, o sea resolvía un problema más difícil que el real. Al corregirlo, su retorno pasó de −2.2% a +2.6% y su peor caída mejoró de −7.0% a −4.2%.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44068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5458968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deja: toda serie que venga de una fuente sin documentación de sus fechas se contrasta contra una segunda fuente por correlación de RETORNOS, no de niveles.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 · NOTICIAS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 · Un modelo de lenguaje local etiqueta 19,500 titulares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57276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920240"/>
            <a:ext cx="4718304" cy="120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clasifica el TIPO de evento —resultados, fusión, regulación, crisis…— sobre una taxonomía de 15 categorías. Es una tarea objetiva.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magnitud de cada tipo la fija el autor, no el modelo. Las categorías de magnitud cero son el filtro de relevancia.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42900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363016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recibe el agente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977640"/>
            <a:ext cx="4718304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series diarias: positivo, neutro y negativo, cada una con memoria de 5, 20 y 60 días.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4828032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" y="5029200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económica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5376672"/>
            <a:ext cx="4718304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noticias marcadas como relevantes coinciden con saltos grandes de precio el 34.8% de las veces, contra 18.4% de base (p = 0.006). Las irrelevantes no se distinguen del azar.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3716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RESULTADOS QUE INTERESAN A UN INFORMÁTICO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1719072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1589532"/>
            <a:ext cx="5157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ranking de modelos se invirtió.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eligió con 550 titulares anotados a mano por el autor. El modelo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lideraba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cayó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revision manual.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907792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793492"/>
            <a:ext cx="5157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grande no fue mejor.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27 mil millones de parámetros rindió peor que el de 12 mil millones. El elegido, gemma3:12b, alcanza 75% de precisión y 92% de exhaustividad detectando noticias relevantes.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5586984" cy="1947672"/>
          </a:xfrm>
          <a:prstGeom prst="roundRect">
            <a:avLst>
              <a:gd name="adj" fmla="val 28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36208" y="4315968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para la tesis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36208" y="4663440"/>
            <a:ext cx="5184648" cy="1278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de noticias es el único que no se puede comprar hecho: es trabajo propio de extracción, clasificación y validación.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en GPU local con un modelo abierto, así que la señal es reproducible y no depende de un proveedor externo ni de su precio.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 · ENTRENAMIENTO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R7 · El agente aprende: 9 de 10 semillas llegan a meseta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749040" cy="3108960"/>
          </a:xfrm>
          <a:prstGeom prst="roundRect">
            <a:avLst>
              <a:gd name="adj" fmla="val 176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572768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piloto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828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984248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· SAC y DDPG en pruebas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311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984248" y="2231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64, pequeña a propósito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6334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decide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2633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 7 acciones más caja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0358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984248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diferencial, día a día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438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Repeticiones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984248" y="3438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semillas; 10 en la corrida final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984248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validación; el test sigue intacto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61772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68096" y="4818888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 la curva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5111496"/>
            <a:ext cx="334670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nota que recibe el agente cada día simulado: si sube, aprende lo que se le pide.</a:t>
            </a:r>
            <a:endParaRPr lang="en-US" sz="1150" dirty="0"/>
          </a:p>
        </p:txBody>
      </p:sp>
      <p:pic>
        <p:nvPicPr>
          <p:cNvPr id="21" name="Image 0" descr="C:\Users\LENOVO\AppData\Local\Temp\claude\C--tesis\43a24782-3ace-4495-b4b9-41628b7a23b5\scratchpad\figppt\g2_curva_aprendiza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7132320" cy="290923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572000" y="51206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por paso durante el entrenamiento: 10 semillas, un millón de pasos, pliegue 0.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" y="571500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5733288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que pide el documento de tesis —convergencia estable en al menos 3 semillas— queda cumplido para PPO. Pero la sección siguiente muestra que una nota de entrenamiento más alta no significa mejor desempeño fuera de muestra.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 · RESULTADOS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R8 · El agente protege capital; las noticias prometen más</a:t>
            </a:r>
            <a:endParaRPr lang="en-US" sz="2700" dirty="0"/>
          </a:p>
        </p:txBody>
      </p:sp>
      <p:pic>
        <p:nvPicPr>
          <p:cNvPr id="4" name="Image 0" descr="C:\Users\LENOVO\AppData\Local\Temp\claude\C--tesis\43a24782-3ace-4495-b4b9-41628b7a23b5\scratchpad\figppt\g5_mapa_calor_r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325880"/>
            <a:ext cx="6812280" cy="31372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83480" y="5138928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en validación por configuración y pliegue (mediana de 3 semillas). Azul es ganancia; rojo, pérdida.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716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+9.7%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 el agente con el canal de noticias en el mejor año de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contra +2.6% con solo datos de mercado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3063240"/>
            <a:ext cx="4206240" cy="1143000"/>
          </a:xfrm>
          <a:prstGeom prst="roundRect">
            <a:avLst>
              <a:gd name="adj" fmla="val 48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8096" y="326440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ventaja clara es otra: la prudencia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3557016"/>
            <a:ext cx="380390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mercado tiene la menor caída de todas las estrategias con acciones: −4.2% contra −10.2% del reparto igualitario.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4370832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68096" y="45720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</a:t>
            </a:r>
            <a:r>
              <a:rPr lang="en-US" sz="1250" b="1" dirty="0" err="1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</a:t>
            </a: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</a:t>
            </a: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250" b="1" dirty="0" err="1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4864608"/>
            <a:ext cx="3803904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de noticias es también el más volátil: en el pliegue de la pandemia cae −11.9%, y entre semillas va de −2.0% a +22.8%.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566928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68096" y="5870448"/>
            <a:ext cx="3803904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configuración le gana a la caja en más de 1 de los 3 pliegues.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 · COMPORTAMIENTO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decide el agente, y qué le aportan las señales</a:t>
            </a:r>
            <a:endParaRPr lang="en-US" sz="2700" dirty="0"/>
          </a:p>
        </p:txBody>
      </p:sp>
      <p:pic>
        <p:nvPicPr>
          <p:cNvPr id="4" name="Image 0" descr="C:\Users\LENOVO\AppData\Local\Temp\claude\C--tesis\43a24782-3ace-4495-b4b9-41628b7a23b5\scratchpad\figppt\g4_pesos_ag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5669280" cy="24616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4206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la cartera día a día, validación del pliegue 0.</a:t>
            </a:r>
            <a:endParaRPr lang="en-US" sz="1050" dirty="0"/>
          </a:p>
        </p:txBody>
      </p:sp>
      <p:pic>
        <p:nvPicPr>
          <p:cNvPr id="6" name="Image 1" descr="C:\Users\LENOVO\AppData\Local\Temp\claude\C--tesis\43a24782-3ace-4495-b4b9-41628b7a23b5\scratchpad\figppt\f4_can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25880"/>
            <a:ext cx="5303520" cy="20237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55080" y="42062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Sharpe frente al agente con solo datos de mercado.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66928" y="4617720"/>
            <a:ext cx="5669280" cy="1417320"/>
          </a:xfrm>
          <a:prstGeom prst="roundRect">
            <a:avLst>
              <a:gd name="adj" fmla="val 387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68096" y="4818888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quedarse fuera del mercado, y tiene razón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68096" y="5129784"/>
            <a:ext cx="5266944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100% en caja y entra despacio: termina el año con 24%. En su tramo de entrenamiento la caja rindió 2.6% anual contra 1.5% del reparto igualitario, con caída cero contra −46%.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55080" y="4617720"/>
            <a:ext cx="5266944" cy="1417320"/>
          </a:xfrm>
          <a:prstGeom prst="roundRect">
            <a:avLst>
              <a:gd name="adj" fmla="val 387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556248" y="481888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canales se estorban entre sí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556248" y="5129784"/>
            <a:ext cx="486460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aporta por separado, pero las tres señales juntas logran +0.11 de Sharpe: menos de la cuarta parte de la suma de sus aportes individuales (+0.97).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sensatez: Luz del Sur es el activo más caro de operar (3.2% ida y vuelta) y el agente le da 2.0% de peso medio, cuando el reparto igualitario le daría 14.3%.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 · LAS VÍAS DE MEJORA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mejorar al agente: medidas, y las tres negativas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ENTRENAR MÁS</a:t>
            </a:r>
            <a:endParaRPr lang="en-US" sz="1200" dirty="0"/>
          </a:p>
        </p:txBody>
      </p:sp>
      <p:pic>
        <p:nvPicPr>
          <p:cNvPr id="5" name="Image 0" descr="C:\Users\LENOVO\AppData\Local\Temp\claude\C--tesis\43a24782-3ace-4495-b4b9-41628b7a23b5\scratchpad\figppt\f3_presupue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26" y="1600200"/>
            <a:ext cx="5345723" cy="1828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3520440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recompensa de entrenamiento sube, pero la validación empeora en 9 de las 10 semillas: la rotación casi se triplica y el costo sube 166%.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298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CAMBIAR LA RECOMPENSA</a:t>
            </a:r>
            <a:endParaRPr lang="en-US" sz="1200" dirty="0"/>
          </a:p>
        </p:txBody>
      </p:sp>
      <p:pic>
        <p:nvPicPr>
          <p:cNvPr id="8" name="Image 1" descr="C:\Users\LENOVO\AppData\Local\Temp\claude\C--tesis\43a24782-3ace-4495-b4b9-41628b7a23b5\scratchpad\figppt\g6_frontera_recompen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887" y="1600200"/>
            <a:ext cx="4087906" cy="1828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35204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bien las estrategias y darle peso al riesgo están en conflicto directo a frecuencia diaria: ningún valor probado cae en la zona buscada.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66928" y="42976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68096" y="4498848"/>
            <a:ext cx="1020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Agregar más señales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4791456"/>
            <a:ext cx="10204704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en la diapositiva anterior: la interacción entre canales es negativa (−3.9 puntos de retorno). Juntar información no suma, diluye.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544068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" y="5458968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es el hallazgo: aquí el sobreajuste no aparece como una curva de validación que se despega despacio, sino como ROTACIÓN. Y la rotación se paga en costos.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vías se midieron con el mismo protocolo y el mismo presupuesto, para que sean comparables entre sí.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Algunas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 </a:t>
            </a:r>
            <a:r>
              <a:rPr lang="en-US" sz="2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configuró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 </a:t>
            </a:r>
            <a:r>
              <a:rPr lang="en-US" sz="2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85816" cy="164592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5727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con 3 pliegues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920240"/>
            <a:ext cx="4983480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pliegue entrena con todo lo anterior y valida en el tramo siguiente, como se haría en la práctica. Cada uno cae en un contexto de mercado distinto: año alcista, pandemia y año bajista.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6208" y="1371600"/>
            <a:ext cx="5385816" cy="164592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37376" y="15727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 de 20 días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1920240"/>
            <a:ext cx="4983480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hueco entre tramos para que las medias móviles del final del entrenamiento no alcancen a ver el inicio de la validación.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5385816" cy="164592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" y="34015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nula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749040"/>
            <a:ext cx="4983480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carteras al azar con las mismas reglas y los mismos costos. Si el agente cae dentro de esa banda, no hay hallazgo.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3200400"/>
            <a:ext cx="5385816" cy="164592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blurRad="101600" dist="12700" dir="5400000" algn="bl" rotWithShape="0">
              <a:srgbClr val="9AA3B5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7376" y="34015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configuraciones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749040"/>
            <a:ext cx="4983480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corridas registradas desde la primera, sin borrar ninguna. El Sharpe deflactado descuenta el número de intentos.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11055096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512064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El tramo de prueba no se ha tocado nunca.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Todas las cifras mostradas son de validación. El test se reserva para una sola corrida definitiva, con las reglas congeladas de antemano: eso es lo que permitirá que el número final sea creíble.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y próximos pasos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SABEMOS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75564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BVL el costo de transacción es el término dominante: se come 24 puntos del reparto igualitario y el 65% del capital en Markowitz.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651760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62432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remunerada fue la estrategia ganadora de 2013–2025. La evaluación tiene que poder premiar al agente que decide no invertir.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520440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349300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aprende a proteger capital: la menor caída de todas. Todavía no a ganar más.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389120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36168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información no suma: cada canal aporta por separado y juntos se estorban.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257800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25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523036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la BVL necesitan validación externa, y el modelo de lenguaje, anotación humana.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1755648"/>
            <a:ext cx="5129784" cy="749808"/>
          </a:xfrm>
          <a:prstGeom prst="roundRect">
            <a:avLst>
              <a:gd name="adj" fmla="val 6098"/>
            </a:avLst>
          </a:prstGeom>
          <a:solidFill>
            <a:srgbClr val="2B3A72"/>
          </a:solidFill>
          <a:ln w="12700">
            <a:solidFill>
              <a:srgbClr val="2B3A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179222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los tres algoritmos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y DDPG, en implementación y pruebas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2624328"/>
            <a:ext cx="5129784" cy="749808"/>
          </a:xfrm>
          <a:prstGeom prst="roundRect">
            <a:avLst>
              <a:gd name="adj" fmla="val 6098"/>
            </a:avLst>
          </a:prstGeom>
          <a:solidFill>
            <a:srgbClr val="2B3A72"/>
          </a:solidFill>
          <a:ln w="12700">
            <a:solidFill>
              <a:srgbClr val="2B3A7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266090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10 semillas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dispersión entre semillas hoy supera a la señal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3493008"/>
            <a:ext cx="5129784" cy="749808"/>
          </a:xfrm>
          <a:prstGeom prst="roundRect">
            <a:avLst>
              <a:gd name="adj" fmla="val 6098"/>
            </a:avLst>
          </a:prstGeom>
          <a:solidFill>
            <a:srgbClr val="2B3A72"/>
          </a:solidFill>
          <a:ln w="12700">
            <a:solidFill>
              <a:srgbClr val="2B3A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52958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Pre-registrar y correr sobre el test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congeladas, una sola corrida, los 3 pliegues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361688"/>
            <a:ext cx="5129784" cy="749808"/>
          </a:xfrm>
          <a:prstGeom prst="roundRect">
            <a:avLst>
              <a:gd name="adj" fmla="val 6098"/>
            </a:avLst>
          </a:prstGeom>
          <a:solidFill>
            <a:srgbClr val="2B3A72"/>
          </a:solidFill>
          <a:ln w="12700">
            <a:solidFill>
              <a:srgbClr val="2B3A7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439826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estadísticas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deflactado, intervalos por semillas, banda nula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5230368"/>
            <a:ext cx="5129784" cy="749808"/>
          </a:xfrm>
          <a:prstGeom prst="roundRect">
            <a:avLst>
              <a:gd name="adj" fmla="val 6098"/>
            </a:avLst>
          </a:prstGeom>
          <a:solidFill>
            <a:srgbClr val="2B3A72"/>
          </a:solidFill>
          <a:ln w="12700">
            <a:solidFill>
              <a:srgbClr val="2B3A7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526694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el modelo de costos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históricos de Bloomberg, ya descargados, para estresar el costo en los periodos de tensión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3666</Words>
  <Application>Microsoft Office PowerPoint</Application>
  <PresentationFormat>Panorámica</PresentationFormat>
  <Paragraphs>299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de tesis — DRL en la BVL</dc:title>
  <dc:subject>PptxGenJS Presentation</dc:subject>
  <dc:creator>Rodrigo Holguin</dc:creator>
  <cp:lastModifiedBy>LENOVO</cp:lastModifiedBy>
  <cp:revision>7</cp:revision>
  <dcterms:created xsi:type="dcterms:W3CDTF">2026-09-22T21:08:06Z</dcterms:created>
  <dcterms:modified xsi:type="dcterms:W3CDTF">2026-09-23T00:45:03Z</dcterms:modified>
</cp:coreProperties>
</file>