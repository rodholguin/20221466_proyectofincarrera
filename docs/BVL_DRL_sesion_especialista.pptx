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Calibri"/>
              </a:defRPr>
            </a:pPr>
            <a:r>
              <a:rPr lang="es-ES" sz="1200" b="0" i="0" u="none" strike="noStrike">
                <a:solidFill>
                  <a:srgbClr val="5C6B73"/>
                </a:solidFill>
                <a:latin typeface="Calibri"/>
              </a:rPr>
              <a:t>% de observaciones con fecha real (no estimada)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Observaciones con fecha real de presentación</c:v>
                </c:pt>
              </c:strCache>
            </c:strRef>
          </c:tx>
          <c:spPr>
            <a:solidFill>
              <a:srgbClr val="B4653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2232E"/>
                    </a:solidFill>
                    <a:latin typeface="Calibri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Prueba</c:v>
                </c:pt>
                <c:pt idx="1">
                  <c:v>Validación</c:v>
                </c:pt>
                <c:pt idx="2">
                  <c:v>Entrenamiento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31.9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1C-4EBA-AA60-95E0D11B6F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3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b"/>
        <c:majorGridlines>
          <c:spPr>
            <a:ln w="12700" cap="flat">
              <a:solidFill>
                <a:srgbClr val="E8EC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Calibri"/>
              </a:defRPr>
            </a:pPr>
            <a:r>
              <a:rPr lang="es-ES" sz="1200" b="0" i="0" u="none" strike="noStrike">
                <a:solidFill>
                  <a:srgbClr val="5C6B73"/>
                </a:solidFill>
                <a:latin typeface="Calibri"/>
              </a:rPr>
              <a:t>Eventos por año sumando prensa y hechos de importancia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Eventos por año</c:v>
                </c:pt>
              </c:strCache>
            </c:strRef>
          </c:tx>
          <c:spPr>
            <a:solidFill>
              <a:srgbClr val="3E6B7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572-4C8D-AAF6-E7724201D64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572-4C8D-AAF6-E7724201D64F}"/>
              </c:ext>
            </c:extLst>
          </c:dPt>
          <c:dPt>
            <c:idx val="2"/>
            <c:invertIfNegative val="0"/>
            <c:bubble3D val="0"/>
            <c:spPr>
              <a:solidFill>
                <a:srgbClr val="B465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572-4C8D-AAF6-E7724201D64F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2232E"/>
                    </a:solidFill>
                    <a:latin typeface="Calibri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Ferreycorp</c:v>
                </c:pt>
                <c:pt idx="1">
                  <c:v>Pacasmayo</c:v>
                </c:pt>
                <c:pt idx="2">
                  <c:v>InRetail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6.8</c:v>
                </c:pt>
                <c:pt idx="1">
                  <c:v>8.1999999999999993</c:v>
                </c:pt>
                <c:pt idx="2">
                  <c:v>43.5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572-4C8D-AAF6-E7724201D6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223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b"/>
        <c:majorGridlines>
          <c:spPr>
            <a:ln w="12700" cap="flat">
              <a:solidFill>
                <a:srgbClr val="E8EC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248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Sesión de 60-90 min. Objetivo: capturar criterio de inversión en las decisiones aún abiertas y validar la propuesta preliminar de OE1.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Enfatizar: no venimos a mostrar un backtest ganador. Venimos a cerrar decisiones antes de entrenar.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mínimo defendible es la ablación limpia, no el retorno.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Sectores: BCP banca, Alicorp consumo, InRetail retail, Pacasmayo cemento, Ferreycorp bienes de capital, Minsur estaño/cobre, Luz del Sur distribución eléctrica.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canal se prueba por separado en la ablación: solo mercado, +sentimiento, +fundamentales, +macro,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punto que planteo el asesor. Se midió antes de decidir.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Temporalidad: decaimiento exponencial en tres escalas (vidas medias 5, 20 y 60 días habiles), canales positivo/neutro/negativo separados, noticias de día no habil al siguiente día habil, nunca al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140 hechos anotados a mano contra un criterio fijado de antemano. 14 % es texto administrativo sin contenido, además de 2,007 hechos excluidos por venir vacios.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semaforo es la prioridad esperada, no un resultado. La ablación es lo que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P4 de la lista: hay límites de concentración por emisor que un mandato real impondría? Ese número entra como restricción.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Moody &amp; Saffell; Bailey &amp; Lopez de Prado (Deflated Sharpe Ratio); Zhang, Zohren &amp; Roberts; JRFM 2025; comparativo factor-based DRL de cinco disenos de recompensa.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937760" cy="4937760"/>
          </a:xfrm>
          <a:prstGeom prst="ellipse">
            <a:avLst/>
          </a:prstGeom>
          <a:solidFill>
            <a:srgbClr val="1D3A47"/>
          </a:solidFill>
          <a:ln w="12700">
            <a:solidFill>
              <a:srgbClr val="1D3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4206240"/>
            <a:ext cx="2926080" cy="2926080"/>
          </a:xfrm>
          <a:prstGeom prst="ellipse">
            <a:avLst/>
          </a:prstGeom>
          <a:solidFill>
            <a:srgbClr val="1D3A47"/>
          </a:solidFill>
          <a:ln w="12700">
            <a:solidFill>
              <a:srgbClr val="1D3A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1051560"/>
            <a:ext cx="822960" cy="822960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CON ESPECIALISTA DE MERCADO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7830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Aprendizaje por refuerzo profundo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aplicado a la Bolsa de Valores de Lima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429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diario point-in-time 2012-2025  ·  7 acciones  ·  4 canales de información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4023360"/>
            <a:ext cx="6309360" cy="502920"/>
          </a:xfrm>
          <a:prstGeom prst="roundRect">
            <a:avLst>
              <a:gd name="adj" fmla="val 14545"/>
            </a:avLst>
          </a:prstGeom>
          <a:solidFill>
            <a:srgbClr val="1D3A47"/>
          </a:solidFill>
          <a:ln w="12700">
            <a:solidFill>
              <a:srgbClr val="8E4B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40233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base de datos construida y auditada  ·  agente aún NO entrenado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394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Holguín</a:t>
            </a:r>
            <a:r>
              <a:rPr lang="en-US" sz="1300" dirty="0">
                <a:solidFill>
                  <a:srgbClr val="8D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Asesor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Edwin Villanueva</a:t>
            </a:r>
            <a:r>
              <a:rPr lang="en-US" sz="1300" dirty="0">
                <a:solidFill>
                  <a:srgbClr val="8D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 septiembre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bloques, tres pedidos distintos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35204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475488" cy="475488"/>
          </a:xfrm>
          <a:prstGeom prst="ellipse">
            <a:avLst/>
          </a:prstGeom>
          <a:solidFill>
            <a:srgbClr val="3E6B7E"/>
          </a:solidFill>
          <a:ln w="12700">
            <a:solidFill>
              <a:srgbClr val="3E6B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95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construido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datos se reunieron, con qué criterios y qué limitaciones tienen.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566160"/>
            <a:ext cx="3017520" cy="777240"/>
          </a:xfrm>
          <a:prstGeom prst="roundRect">
            <a:avLst>
              <a:gd name="adj" fmla="val 588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50976" y="36118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3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r>
              <a:rPr lang="en-US" sz="1150" b="1" dirty="0">
                <a:solidFill>
                  <a:srgbClr val="3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supuestos que un practicante del mercado peruano sabría que no se sostienen.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06824" y="1508760"/>
            <a:ext cx="35204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62856" y="1783080"/>
            <a:ext cx="475488" cy="475488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62856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2395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abierto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62856" y="2788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decisiones de diseño del agente que aún NO se han tomado.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62856" y="3566160"/>
            <a:ext cx="3017520" cy="777240"/>
          </a:xfrm>
          <a:prstGeom prst="roundRect">
            <a:avLst>
              <a:gd name="adj" fmla="val 588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90872" y="36118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r>
              <a:rPr lang="en-US" sz="1150" b="1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50" dirty="0" err="1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Discutir</a:t>
            </a: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sobre criterio de inversión. Es donde su experiencia vale más.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1508760"/>
            <a:ext cx="35204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02752" y="1783080"/>
            <a:ext cx="475488" cy="475488"/>
          </a:xfrm>
          <a:prstGeom prst="ellipse">
            <a:avLst/>
          </a:prstGeom>
          <a:solidFill>
            <a:srgbClr val="3F6B4A"/>
          </a:solidFill>
          <a:ln w="12700">
            <a:solidFill>
              <a:srgbClr val="3F6B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02752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2395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 OE1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302752" y="2788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objetivo, tratamiento del costo y protocolo de evaluación.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02752" y="3566160"/>
            <a:ext cx="3017520" cy="777240"/>
          </a:xfrm>
          <a:prstGeom prst="roundRect">
            <a:avLst>
              <a:gd name="adj" fmla="val 588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30768" y="36118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r>
              <a:rPr lang="en-US" sz="1150" b="1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sobre una propuesta ya redactada: qué rompería, qué falta.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75488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12232E"/>
          </a:solidFill>
          <a:ln w="12700">
            <a:solidFill>
              <a:srgbClr val="12232E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86968" y="4828032"/>
            <a:ext cx="1041775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no hay resultados de desempeño todavía.  </a:t>
            </a:r>
            <a:r>
              <a:rPr lang="en-US" sz="1350" dirty="0">
                <a:solidFill>
                  <a:srgbClr val="C8D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deliberado: el protocolo de evaluación se fija ANTES de entrenar, para no elegir la métrica después de ver los resultados. Esa decisión sigue abierta y es una de las que se consultan hoy.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tesis en una página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4892040" cy="2148840"/>
          </a:xfrm>
          <a:prstGeom prst="roundRect">
            <a:avLst>
              <a:gd name="adj" fmla="val 2553"/>
            </a:avLst>
          </a:prstGeom>
          <a:solidFill>
            <a:srgbClr val="12232E"/>
          </a:solidFill>
          <a:ln w="12700">
            <a:solidFill>
              <a:srgbClr val="12232E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6916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11680"/>
            <a:ext cx="4343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¿Puede un agente de RL profundo construir y rebalancear un portafolio de acciones de la BVL que supere, fuera de muestra y de forma robusta, a estrategias pasivas y clásicas?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66928" y="3794760"/>
            <a:ext cx="4892040" cy="1874520"/>
          </a:xfrm>
          <a:prstGeom prst="roundRect">
            <a:avLst>
              <a:gd name="adj" fmla="val 292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41248" y="39776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 de éxito, fijado de antemano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429768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"ganar dinero": es superar de forma robusta y fuera de muestra a los baselines, con una ablación limpia que muestre qué canal aporta. Si el canal de sentimiento no supera al baseline, el canal no se usa. Lo mismo para fundamentales y macro.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06440" y="1517904"/>
            <a:ext cx="384048" cy="384048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06440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1463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 el agente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1792224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que observa el estado del mercado en t y devuelve pesos para t+1. No estima retornos esperados ni la matriz de covarianzas: aprende una política por prueba y error.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06440" y="2962656"/>
            <a:ext cx="384048" cy="384048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0644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9077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la BVL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236976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es donde la pregunta no está contestada. La literatura trabaja sobre S&amp;P 500, cripto y futuros. Acá hay pocos emisores líquidos, sesiones sin negociación y spreads amplios.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806440" y="4407408"/>
            <a:ext cx="384048" cy="384048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0644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4352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fricciones son el objeto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468172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 estorbo. El aporte metodológico es el panel diario point-in-time de 14 años, reutilizable gane o pierda el agente.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universo: siete acciones, y la liquidez que realmente hay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sesiones con precio distinto al de la sesión anterior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64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INRETC1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709928" y="1705356"/>
            <a:ext cx="3703320" cy="192024"/>
          </a:xfrm>
          <a:prstGeom prst="rect">
            <a:avLst/>
          </a:prstGeom>
          <a:solidFill>
            <a:srgbClr val="EDF0F2"/>
          </a:solidFill>
          <a:ln w="12700">
            <a:solidFill>
              <a:srgbClr val="EDF0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09928" y="1705356"/>
            <a:ext cx="3610737" cy="192024"/>
          </a:xfrm>
          <a:prstGeom prst="rect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522976" y="1664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97.5 %   (USD)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0665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ALICORC1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09928" y="2107692"/>
            <a:ext cx="3703320" cy="192024"/>
          </a:xfrm>
          <a:prstGeom prst="rect">
            <a:avLst/>
          </a:prstGeom>
          <a:solidFill>
            <a:srgbClr val="EDF0F2"/>
          </a:solidFill>
          <a:ln w="12700">
            <a:solidFill>
              <a:srgbClr val="EDF0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09928" y="2107692"/>
            <a:ext cx="2810820" cy="192024"/>
          </a:xfrm>
          <a:prstGeom prst="rect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22976" y="20665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75.9 %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FERREYC1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709928" y="2510028"/>
            <a:ext cx="3703320" cy="192024"/>
          </a:xfrm>
          <a:prstGeom prst="rect">
            <a:avLst/>
          </a:prstGeom>
          <a:solidFill>
            <a:srgbClr val="EDF0F2"/>
          </a:solidFill>
          <a:ln w="12700">
            <a:solidFill>
              <a:srgbClr val="EDF0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09928" y="2510028"/>
            <a:ext cx="2721940" cy="192024"/>
          </a:xfrm>
          <a:prstGeom prst="rect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22976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73.5 %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8712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CPACASC1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709928" y="2912364"/>
            <a:ext cx="3703320" cy="192024"/>
          </a:xfrm>
          <a:prstGeom prst="rect">
            <a:avLst/>
          </a:prstGeom>
          <a:solidFill>
            <a:srgbClr val="EDF0F2"/>
          </a:solidFill>
          <a:ln w="12700">
            <a:solidFill>
              <a:srgbClr val="EDF0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09928" y="2912364"/>
            <a:ext cx="2670094" cy="192024"/>
          </a:xfrm>
          <a:prstGeom prst="rect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22976" y="28712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72.1 %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32735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MINSURI1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709928" y="3314700"/>
            <a:ext cx="3703320" cy="192024"/>
          </a:xfrm>
          <a:prstGeom prst="rect">
            <a:avLst/>
          </a:prstGeom>
          <a:solidFill>
            <a:srgbClr val="EDF0F2"/>
          </a:solidFill>
          <a:ln w="12700">
            <a:solidFill>
              <a:srgbClr val="EDF0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09928" y="3314700"/>
            <a:ext cx="2403455" cy="192024"/>
          </a:xfrm>
          <a:prstGeom prst="rect">
            <a:avLst/>
          </a:prstGeom>
          <a:solidFill>
            <a:srgbClr val="3E6B7E"/>
          </a:solidFill>
          <a:ln w="12700">
            <a:solidFill>
              <a:srgbClr val="3E6B7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22976" y="3273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64.9 %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3675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CREDITC1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709928" y="3717036"/>
            <a:ext cx="3703320" cy="192024"/>
          </a:xfrm>
          <a:prstGeom prst="rect">
            <a:avLst/>
          </a:prstGeom>
          <a:solidFill>
            <a:srgbClr val="EDF0F2"/>
          </a:solidFill>
          <a:ln w="12700">
            <a:solidFill>
              <a:srgbClr val="EDF0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09928" y="3717036"/>
            <a:ext cx="2170146" cy="192024"/>
          </a:xfrm>
          <a:prstGeom prst="rect">
            <a:avLst/>
          </a:prstGeom>
          <a:solidFill>
            <a:srgbClr val="3E6B7E"/>
          </a:solidFill>
          <a:ln w="12700">
            <a:solidFill>
              <a:srgbClr val="3E6B7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22976" y="3675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58.6 %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40782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LUSURC1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709928" y="4119372"/>
            <a:ext cx="3703320" cy="192024"/>
          </a:xfrm>
          <a:prstGeom prst="rect">
            <a:avLst/>
          </a:prstGeom>
          <a:solidFill>
            <a:srgbClr val="EDF0F2"/>
          </a:solidFill>
          <a:ln w="12700">
            <a:solidFill>
              <a:srgbClr val="EDF0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09928" y="4119372"/>
            <a:ext cx="2092376" cy="192024"/>
          </a:xfrm>
          <a:prstGeom prst="rect">
            <a:avLst/>
          </a:prstGeom>
          <a:solidFill>
            <a:srgbClr val="3E6B7E"/>
          </a:solidFill>
          <a:ln w="12700">
            <a:solidFill>
              <a:srgbClr val="3E6B7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522976" y="4078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56.5 %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4480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BUENAVC1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709928" y="4521708"/>
            <a:ext cx="3703320" cy="192024"/>
          </a:xfrm>
          <a:prstGeom prst="rect">
            <a:avLst/>
          </a:prstGeom>
          <a:solidFill>
            <a:srgbClr val="EDF0F2"/>
          </a:solidFill>
          <a:ln w="12700">
            <a:solidFill>
              <a:srgbClr val="EDF0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09928" y="4521708"/>
            <a:ext cx="877687" cy="192024"/>
          </a:xfrm>
          <a:prstGeom prst="rect">
            <a:avLst/>
          </a:prstGeom>
          <a:solidFill>
            <a:srgbClr val="C3CBD0"/>
          </a:solidFill>
          <a:ln w="12700">
            <a:solidFill>
              <a:srgbClr val="C3CBD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522976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23.7 %   salio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4882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CORAREC1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709928" y="4924044"/>
            <a:ext cx="3703320" cy="192024"/>
          </a:xfrm>
          <a:prstGeom prst="rect">
            <a:avLst/>
          </a:prstGeom>
          <a:solidFill>
            <a:srgbClr val="EDF0F2"/>
          </a:solidFill>
          <a:ln w="12700">
            <a:solidFill>
              <a:srgbClr val="EDF0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09928" y="4924044"/>
            <a:ext cx="770291" cy="192024"/>
          </a:xfrm>
          <a:prstGeom prst="rect">
            <a:avLst/>
          </a:prstGeom>
          <a:solidFill>
            <a:srgbClr val="C3CBD0"/>
          </a:solidFill>
          <a:ln w="12700">
            <a:solidFill>
              <a:srgbClr val="C3CBD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522976" y="48828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20.8 %   salio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5285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SAGAC1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1709928" y="5326380"/>
            <a:ext cx="3703320" cy="192024"/>
          </a:xfrm>
          <a:prstGeom prst="rect">
            <a:avLst/>
          </a:prstGeom>
          <a:solidFill>
            <a:srgbClr val="EDF0F2"/>
          </a:solidFill>
          <a:ln w="12700">
            <a:solidFill>
              <a:srgbClr val="EDF0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09928" y="5326380"/>
            <a:ext cx="151836" cy="192024"/>
          </a:xfrm>
          <a:prstGeom prst="rect">
            <a:avLst/>
          </a:prstGeom>
          <a:solidFill>
            <a:srgbClr val="C3CBD0"/>
          </a:solidFill>
          <a:ln w="12700">
            <a:solidFill>
              <a:srgbClr val="C3CBD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522976" y="5285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4.1 %   salio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903720" y="1371600"/>
            <a:ext cx="4721047" cy="1298448"/>
          </a:xfrm>
          <a:prstGeom prst="roundRect">
            <a:avLst>
              <a:gd name="adj" fmla="val 4225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7132320" y="1517904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métrica no es el volumen</a:t>
            </a:r>
            <a:endParaRPr lang="en-US" sz="1450" dirty="0"/>
          </a:p>
        </p:txBody>
      </p:sp>
      <p:sp>
        <p:nvSpPr>
          <p:cNvPr id="47" name="Text 45"/>
          <p:cNvSpPr txBox="1"/>
          <p:nvPr/>
        </p:nvSpPr>
        <p:spPr>
          <a:xfrm>
            <a:off x="7132320" y="1828800"/>
            <a:ext cx="42638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volumen reportado se verificó poco confiable para tickers de Lima. Un precio que no se movió porque nadie transó no es información: es el precio anterior arrastrado.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903720" y="2862072"/>
            <a:ext cx="4721047" cy="1298448"/>
          </a:xfrm>
          <a:prstGeom prst="roundRect">
            <a:avLst>
              <a:gd name="adj" fmla="val 4225"/>
            </a:avLst>
          </a:prstGeom>
          <a:solidFill>
            <a:srgbClr val="F0E4DB"/>
          </a:solidFill>
          <a:ln w="12700">
            <a:solidFill>
              <a:srgbClr val="F0E4DB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7132320" y="3008376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E4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límite que se declara</a:t>
            </a:r>
            <a:endParaRPr lang="en-US" sz="1450" dirty="0"/>
          </a:p>
        </p:txBody>
      </p:sp>
      <p:sp>
        <p:nvSpPr>
          <p:cNvPr id="50" name="Text 48"/>
          <p:cNvSpPr txBox="1"/>
          <p:nvPr/>
        </p:nvSpPr>
        <p:spPr>
          <a:xfrm>
            <a:off x="7132320" y="3319272"/>
            <a:ext cx="42638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piso subió de 4.1 % a 56.5 %, pero ninguno de los siete es líquido: el techo BVL-nativo es ~75 %. Uno de cada tres o cuatro días el cierre de media cartera no refleja una transacción de ese día.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903720" y="4352544"/>
            <a:ext cx="4721047" cy="1298448"/>
          </a:xfrm>
          <a:prstGeom prst="roundRect">
            <a:avLst>
              <a:gd name="adj" fmla="val 4225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7132320" y="4498848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exclusiones deliberadas</a:t>
            </a:r>
            <a:endParaRPr lang="en-US" sz="1450" dirty="0"/>
          </a:p>
        </p:txBody>
      </p:sp>
      <p:sp>
        <p:nvSpPr>
          <p:cNvPr id="53" name="Text 51"/>
          <p:cNvSpPr txBox="1"/>
          <p:nvPr/>
        </p:nvSpPr>
        <p:spPr>
          <a:xfrm>
            <a:off x="7132320" y="4809744"/>
            <a:ext cx="42638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 (NYSE) negocia ~1,200x lo de CREDITC1, pero forma precio en Nueva York y es otro valor. El ADR de Pacasmayo está prácticamente muerto: US$ 47 mil/día contra US$ 235 mil en Lima.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canales, auditados y probados por separado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19072"/>
            <a:ext cx="457200" cy="457200"/>
          </a:xfrm>
          <a:prstGeom prst="ellipse">
            <a:avLst/>
          </a:prstGeom>
          <a:solidFill>
            <a:srgbClr val="3E6B7E"/>
          </a:solidFill>
          <a:ln w="12700">
            <a:solidFill>
              <a:srgbClr val="3E6B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08176" y="17556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4882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primaria: la propia BVL (Yahoo solo como validación cruzada). Tres series separadas a propósito: precio crudo, ajustado por splits y retorno total. Dividendos del registro oficial.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90672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3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Banderas por fila: SIN NEGOCIACIÓN y PRECIO ARRASTRADO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0488" y="1481328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719072"/>
            <a:ext cx="457200" cy="457200"/>
          </a:xfrm>
          <a:prstGeom prst="ellipse">
            <a:avLst/>
          </a:prstGeom>
          <a:solidFill>
            <a:srgbClr val="3F6B4A"/>
          </a:solidFill>
          <a:ln w="12700">
            <a:solidFill>
              <a:srgbClr val="3F6B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31736" y="17556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Fundamentales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286000"/>
            <a:ext cx="4882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trimestrales de la SMV 2012-2025. ROE, ROA, margen, deuda, P/E con utilidad 12M móvil y dividend yield. Acciones en circulación con conteo híbrido BVL menos tesorería.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090672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crítico es la fecha de conocimiento público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694176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931920"/>
            <a:ext cx="457200" cy="457200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08176" y="396849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Sentimiento de prensa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498848"/>
            <a:ext cx="4882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19,528 titulares de Gestión, El Comercio y La República. Un LLM local clasifica el TIPO de evento (tarea objetiva); la importancia la fija el autor por adelantado, no el modelo.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30352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canal más laborioso y el más incierto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90488" y="3694176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3931920"/>
            <a:ext cx="457200" cy="457200"/>
          </a:xfrm>
          <a:prstGeom prst="ellipse">
            <a:avLst/>
          </a:prstGeom>
          <a:solidFill>
            <a:srgbClr val="1D3A47"/>
          </a:solidFill>
          <a:ln w="12700">
            <a:solidFill>
              <a:srgbClr val="1D3A4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31736" y="396849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4498848"/>
            <a:ext cx="4882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series del BCRP: cobre, tipo de cambio USD/PEN, EMBI+ Perú, tasa de referencia e inflación. El criterio de inclusión cambió a mitad del trabajo y es un resultado en sí mismo.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530352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D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descartó un feed geopolítico: ya llega por precio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907024"/>
            <a:ext cx="11057839" cy="621792"/>
          </a:xfrm>
          <a:prstGeom prst="roundRect">
            <a:avLst>
              <a:gd name="adj" fmla="val 11765"/>
            </a:avLst>
          </a:prstGeom>
          <a:solidFill>
            <a:srgbClr val="F0E4DB"/>
          </a:solidFill>
          <a:ln w="12700">
            <a:solidFill>
              <a:srgbClr val="F0E4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" y="6053328"/>
            <a:ext cx="329184" cy="329184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8096" y="6053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1225296" y="5971032"/>
            <a:ext cx="101891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¿Falta algún canal que un gestor local miraría todos los días y acá no está? (flujo de no residentes, AFP, libro de órdenes)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3.2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Fundamentales: el problema es la fecha, no el dato</a:t>
            </a:r>
            <a:endParaRPr lang="en-US" sz="3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66928" y="1417320"/>
          <a:ext cx="50292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70332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0E4DB"/>
          </a:solidFill>
          <a:ln w="12700">
            <a:solidFill>
              <a:srgbClr val="F0E4DB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95528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E4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cambio de régimen alineado con la partición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95528" y="41605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variable significa una cosa en entrenamiento y otra en prueba. No es un faltante aleatorio. Un estado financiero de cierre de junio no es público el 30 de junio: si el agente lo ve en la fecha del período, opera con información que el mercado no tenía.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1371600"/>
            <a:ext cx="55897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disyuntiva y cómo se resolvió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035040" y="1737360"/>
            <a:ext cx="5589727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36208" y="1901952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8C2F2F"/>
          </a:solidFill>
          <a:ln w="12700">
            <a:solidFill>
              <a:srgbClr val="8C2F2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36208" y="1901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1883664"/>
            <a:ext cx="40809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Eliminar la señal donde la fecha es estimada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236208" y="2240280"/>
            <a:ext cx="517824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Vaciaría el entrenamiento, no la prueba: de 231 a 75 observaciones trimestrales. Se entrenaría un agente que casi no vio fundamentales para evaluarlo donde sí están.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35040" y="3108960"/>
            <a:ext cx="5589727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36208" y="3273552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3E6B7E"/>
          </a:solidFill>
          <a:ln w="12700">
            <a:solidFill>
              <a:srgbClr val="3E6B7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36208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3255264"/>
            <a:ext cx="40809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Rezago estimado, mediana de 10 días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236208" y="3611880"/>
            <a:ext cx="517824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fundamentales entran como NIVEL arrastrado hasta el trimestre siguiente, no como sorpresa. 10 días sobre un escalón de ~90 deja ~11 % de días con el valor previo: diluye, no destruye.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035040" y="4480560"/>
            <a:ext cx="5589727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36208" y="4645152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3F6B4A"/>
          </a:solidFill>
          <a:ln w="12700">
            <a:solidFill>
              <a:srgbClr val="3F6B4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36208" y="46451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Adoptado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0" y="4626864"/>
            <a:ext cx="40809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cada observación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4983480"/>
            <a:ext cx="517824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Bandera de fecha real vs estimada. El agente puede condicionar, y eliminar queda registrado como un brazo del estudio de ablación: se decide con evidencia, no a priori.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3.3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Sentimiento: cuánto del corpus es realmente información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3566160" cy="1024128"/>
          </a:xfrm>
          <a:prstGeom prst="roundRect">
            <a:avLst>
              <a:gd name="adj" fmla="val 5357"/>
            </a:avLst>
          </a:prstGeom>
          <a:solidFill>
            <a:srgbClr val="12232E"/>
          </a:solidFill>
          <a:ln w="12700">
            <a:solidFill>
              <a:srgbClr val="1223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72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19,528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06654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titulares recolectados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361688" y="155448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Gestión, El Comercio y La República, 2012-2025, siete emisores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697480"/>
            <a:ext cx="2377440" cy="1024128"/>
          </a:xfrm>
          <a:prstGeom prst="roundRect">
            <a:avLst>
              <a:gd name="adj" fmla="val 5357"/>
            </a:avLst>
          </a:prstGeom>
          <a:solidFill>
            <a:srgbClr val="3E6B7E"/>
          </a:solidFill>
          <a:ln w="12700">
            <a:solidFill>
              <a:srgbClr val="3E6B7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8072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30098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nombran a la empresa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172968" y="2788920"/>
            <a:ext cx="3456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búsqueda opera sobre el cuerpo: entra todo el que mencione al emisor, como fuente, dato o ejemplo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931920"/>
            <a:ext cx="1737360" cy="1024128"/>
          </a:xfrm>
          <a:prstGeom prst="roundRect">
            <a:avLst>
              <a:gd name="adj" fmla="val 5357"/>
            </a:avLst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40416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7.2 %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5354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hecho del emisor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532888" y="4023360"/>
            <a:ext cx="4096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+/- 2.8 pp, sobre 550 titulares anotados a mano por el autor, a ciegas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120640"/>
            <a:ext cx="6035040" cy="658368"/>
          </a:xfrm>
          <a:prstGeom prst="roundRect">
            <a:avLst>
              <a:gd name="adj" fmla="val 833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95528" y="5120640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Relevancia en el estrato que nombra a la empresa: 63.8 %</a:t>
            </a: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contra 2.1 % en el resto. Se marca ese estrato, no se descarta.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1371600"/>
            <a:ext cx="4721047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132320" y="1536192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decisión de diseño central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1874520"/>
            <a:ext cx="4263847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modelo se le pide una tarea OBJETIVA (de qué tipo es el evento), no un juicio de importancia: eso lo fija el autor por adelantado y es auditable en la sustentación.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midió que la autoconfianza del modelo no discrimina: es casi igual en aciertos que en errores.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categorías sin hecho de empresa tienen relevancia cero por construcción y polaridad forzada a nula. Eso eliminó el error dominante de la v1: 49 % de las etiquetas con signo venían de noticias que no hablaban de la empresa.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03720" y="4023360"/>
            <a:ext cx="4721047" cy="1755648"/>
          </a:xfrm>
          <a:prstGeom prst="roundRect">
            <a:avLst>
              <a:gd name="adj" fmla="val 3125"/>
            </a:avLst>
          </a:prstGeom>
          <a:solidFill>
            <a:srgbClr val="F0E4DB"/>
          </a:solidFill>
          <a:ln w="12700">
            <a:solidFill>
              <a:srgbClr val="F0E4DB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132320" y="4160520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E4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Limitación no resuelta: es muda sobre si el evento es NUEVO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4480560"/>
            <a:ext cx="426384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prensa cubre el mismo hecho varias veces -anuncio, avance, cierre- y las tres se clasifican igual. Caso medido: la venta de Luz del Sur en 2019 aparece en siete titulares entre enero y octubre, todos "fusiones y adquisiciones", todos con la misma relevancia. Pero el precio subió 43 % ANTES del anuncio oficial, y el titular que confirma llegó diez sesiones DESPUÉS del salto de 41 % en un día.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techo del canal de prensa: cobertura desigual</a:t>
            </a:r>
            <a:endParaRPr lang="en-US" sz="3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66928" y="1463040"/>
          <a:ext cx="55778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389120"/>
            <a:ext cx="5577840" cy="1325880"/>
          </a:xfrm>
          <a:prstGeom prst="roundRect">
            <a:avLst>
              <a:gd name="adj" fmla="val 4138"/>
            </a:avLst>
          </a:prstGeom>
          <a:solidFill>
            <a:srgbClr val="12232E"/>
          </a:solidFill>
          <a:ln w="12700">
            <a:solidFill>
              <a:srgbClr val="12232E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41248" y="452628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fuente disponible que lo resuelva: es una propiedad de la prensa peruana, no del método. Esto es lo que puede hacer que el canal de sentimiento no pase la ablación.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1371600"/>
            <a:ext cx="50410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probaron los Hechos de Importancia de la BVL como segunda fuente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583680" y="1965960"/>
            <a:ext cx="5041087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812280" y="2093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la fuente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20756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2423160"/>
            <a:ext cx="45838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53.4 % de los hechos son materiales, contra 7.2 % de la prensa. Siete veces más densa en señal.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83680" y="3264408"/>
            <a:ext cx="5041087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812280" y="33924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le pidió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915400" y="33741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LO RESUELVE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812280" y="3721608"/>
            <a:ext cx="45838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desigualdad entre emisores baja de 16.8x a 6.4x, no por debajo de 6 como se había fijado de antemano. Pacasmayo no triplica sus eventos bajo ningún criterio razonable.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583680" y="4562856"/>
            <a:ext cx="5041087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812280" y="4690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sí son superiores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915400" y="46725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LA FECHA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12280" y="5020056"/>
            <a:ext cx="45838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point-in-time por construcción, que es justo lo que el criterio no midió. Queda como propuesta reducida para después.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5907024"/>
            <a:ext cx="11057839" cy="621792"/>
          </a:xfrm>
          <a:prstGeom prst="roundRect">
            <a:avLst>
              <a:gd name="adj" fmla="val 11765"/>
            </a:avLst>
          </a:prstGeom>
          <a:solidFill>
            <a:srgbClr val="F0E4DB"/>
          </a:solidFill>
          <a:ln w="12700">
            <a:solidFill>
              <a:srgbClr val="F0E4D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8096" y="6053328"/>
            <a:ext cx="329184" cy="329184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68096" y="6053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1225296" y="5971032"/>
            <a:ext cx="101891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— ¿La prensa local anticipa o registra? ¿Vale la pena el canal, o el flujo de no residentes y el cobre explican casi todo?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3.4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Macro: el criterio de inclusión cambió, y eso es un resultado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2232E"/>
          </a:solidFill>
          <a:ln w="12700">
            <a:solidFill>
              <a:srgbClr val="12232E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1463040"/>
            <a:ext cx="7452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esqueleto macro de la BVL no son los commodities: es el tipo de cambio y el riesgo país.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458200" y="151790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E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Coherente con el mecanismo conocido: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AE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cobre mueve al sol y el sol mueve a la bolsa.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60604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7523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Cobre, TC y EMBI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87368" y="2770632"/>
            <a:ext cx="1627632" cy="274320"/>
          </a:xfrm>
          <a:prstGeom prst="roundRect">
            <a:avLst>
              <a:gd name="adj" fmla="val 16667"/>
            </a:avLst>
          </a:prstGeom>
          <a:solidFill>
            <a:srgbClr val="3F6B4A"/>
          </a:solidFill>
          <a:ln w="12700">
            <a:solidFill>
              <a:srgbClr val="3F6B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277063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QUEDAN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3639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cobre tiene efecto propio solo en 4 de 7; en los demás lo absorben el tipo de cambio y el EMBI.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0488" y="260604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46520" y="27523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710928" y="2770632"/>
            <a:ext cx="1627632" cy="274320"/>
          </a:xfrm>
          <a:prstGeom prst="roundRect">
            <a:avLst>
              <a:gd name="adj" fmla="val 16667"/>
            </a:avLst>
          </a:prstGeom>
          <a:solidFill>
            <a:srgbClr val="8C2F2F"/>
          </a:solidFill>
          <a:ln w="12700">
            <a:solidFill>
              <a:srgbClr val="8C2F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710928" y="277063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ELIMINADO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13639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Estaba justificado por Buenaventura, que salió del universo. Efecto propio en 0 de 7. Control de que el método funciona: sobre Buenaventura sale con t = +5.57.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178808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4325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Estaño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87368" y="4343400"/>
            <a:ext cx="1627632" cy="274320"/>
          </a:xfrm>
          <a:prstGeom prst="roundRect">
            <a:avLst>
              <a:gd name="adj" fmla="val 16667"/>
            </a:avLst>
          </a:prstGeom>
          <a:solidFill>
            <a:srgbClr val="8C2F2F"/>
          </a:solidFill>
          <a:ln w="12700">
            <a:solidFill>
              <a:srgbClr val="8C2F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87368" y="434340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RECHAZADO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70916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Minsur es el 2.º productor mundial, pero lo mueve el COBRE (t = +5.62). El BCRP solo publica el estaño como promedio mensual: una escalera de doce peldaños al año no explica retornos diarios.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90488" y="4178808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46520" y="4325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Petróleo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710928" y="4343400"/>
            <a:ext cx="1627632" cy="274320"/>
          </a:xfrm>
          <a:prstGeom prst="roundRect">
            <a:avLst>
              <a:gd name="adj" fmla="val 16667"/>
            </a:avLst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10928" y="434340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EVALUACIÓN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470916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en Minsur y Ferreycorp, los dos que uno predeciría. Pero 2 de 8 al 5 % es lo esperable por azar con ~48 pruebas. Va como brazo de ablación, no se da por bueno.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8521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Método: regresión multifactor con errores estándar de Newey-West y factores rezagados un día, que es la especificación relevante si se opera al día siguiente.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esperado por canal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1417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Y DENSIDAD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417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HOY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417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PRINCIPAL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1417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ESPERADO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41248" y="1883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2494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187452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único canal con cobertura completa; 3,513 sesiones x 7 emisores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87452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arrastrado: 1 de cada 3-4 días no hay transacción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0" y="1938528"/>
            <a:ext cx="219456" cy="219456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0608" y="1938528"/>
            <a:ext cx="219456" cy="219456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43216" y="1938528"/>
            <a:ext cx="219456" cy="219456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22311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núcleo. Todo lo demás se mide contra él.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2779776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41248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Media-alta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2916936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y EMBI con efecto propio y consistente; cobre en 4 de 7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2916936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cinco series iguales para los siete activos: aportan régimen, no selección transversal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0" y="2980944"/>
            <a:ext cx="219456" cy="219456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50608" y="2980944"/>
            <a:ext cx="219456" cy="219456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43216" y="2980944"/>
            <a:ext cx="219456" cy="219456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32735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Probable. Explica el nivel del mercado.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822192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41248" y="39684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Fundamentales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" y="4334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743200" y="3959352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trimestral completo y bien fechado desde 2018; rezago mediano 10 días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3959352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régimen en la fecha, alineado con la partición train/test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58000" y="4023360"/>
            <a:ext cx="219456" cy="219456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50608" y="4023360"/>
            <a:ext cx="219456" cy="219456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43216" y="4023360"/>
            <a:ext cx="219456" cy="219456"/>
          </a:xfrm>
          <a:prstGeom prst="ellipse">
            <a:avLst/>
          </a:prstGeom>
          <a:solidFill>
            <a:srgbClr val="D8DEE1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0" y="43159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Incierto. La bandera decide.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6928" y="4864608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F0E4DB"/>
          </a:solidFill>
          <a:ln w="12700">
            <a:solidFill>
              <a:srgbClr val="F0E4DB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41248" y="50109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Sentimiento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41248" y="5376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2743200" y="5001768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7.2 % de los titulares es un hecho del emisor; cobertura 43.5 vs 6.8 eventos/año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937760" y="5001768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cartera casi no tiene prensa; el mercado anticipa lo que ninguna fuente pública muestra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858000" y="5065776"/>
            <a:ext cx="219456" cy="219456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50608" y="5065776"/>
            <a:ext cx="219456" cy="219456"/>
          </a:xfrm>
          <a:prstGeom prst="ellipse">
            <a:avLst/>
          </a:prstGeom>
          <a:solidFill>
            <a:srgbClr val="D8DEE1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43216" y="5065776"/>
            <a:ext cx="219456" cy="219456"/>
          </a:xfrm>
          <a:prstGeom prst="ellipse">
            <a:avLst/>
          </a:prstGeom>
          <a:solidFill>
            <a:srgbClr val="D8DEE1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58000" y="53583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que puede no pasar la ablación.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66928" y="5907024"/>
            <a:ext cx="11057839" cy="621792"/>
          </a:xfrm>
          <a:prstGeom prst="roundRect">
            <a:avLst>
              <a:gd name="adj" fmla="val 11765"/>
            </a:avLst>
          </a:prstGeom>
          <a:solidFill>
            <a:srgbClr val="F0E4DB"/>
          </a:solidFill>
          <a:ln w="12700">
            <a:solidFill>
              <a:srgbClr val="F0E4D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8096" y="6053328"/>
            <a:ext cx="329184" cy="329184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68096" y="6053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700" dirty="0"/>
          </a:p>
        </p:txBody>
      </p:sp>
      <p:sp>
        <p:nvSpPr>
          <p:cNvPr id="47" name="Text 45"/>
          <p:cNvSpPr txBox="1"/>
          <p:nvPr/>
        </p:nvSpPr>
        <p:spPr>
          <a:xfrm>
            <a:off x="1225296" y="5971032"/>
            <a:ext cx="101891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 ordenado como usted lo ordenaría? ¿Qué canal subiría o bajaría en esa escala, y por qué?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SECCIONES 5 Y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Disciplina causal: lo que más puede invalidar el trabajo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47472" cy="347472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1463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en su fecha de conocimiento público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17556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 la fecha a la que se refiere. Aplica a fundamentales y a prensa.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468880"/>
            <a:ext cx="347472" cy="347472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69848" y="23957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Ejecución al día siguiente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69848" y="268833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observa al cierre de t se opera en t+1. Nada se decide y ejecuta el mismo día.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401568"/>
            <a:ext cx="347472" cy="347472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69848" y="33284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Ninguna transformación mira hacia adelante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69848" y="362102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normalizaciones usan solo información hasta la fecha, nunca la media de toda la muestra.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347472" cy="347472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69848" y="42611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Partición temporal y sin barajar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69848" y="45537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Entrenamiento, validación y prueba en orden cronológico.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5230368"/>
            <a:ext cx="5577840" cy="566928"/>
          </a:xfrm>
          <a:prstGeom prst="roundRect">
            <a:avLst>
              <a:gd name="adj" fmla="val 967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95528" y="52303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sobre el panel final: </a:t>
            </a: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aparecieron tres casos de "decisión tomada, código no actualizado". Corregidos y registrados como riesgo de proceso: ninguno hacía fallar nada.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1371600"/>
            <a:ext cx="50410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midió y se descartó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1691640"/>
            <a:ext cx="50410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criterio de descarte dice más del rigor que los resultados positivos. Acá es donde usted puede decir "midieron lo que no era".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0" y="2240280"/>
            <a:ext cx="5041087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812280" y="2368296"/>
            <a:ext cx="4583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 de "alcance" en la clasificación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2642616"/>
            <a:ext cx="4583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812280" y="2862072"/>
            <a:ext cx="45838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aumentaba la información del canal y empeoraba la desigualdad de cobertura entre emisores.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0" y="3456432"/>
            <a:ext cx="5041087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812280" y="3584448"/>
            <a:ext cx="4583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Polaridad de fusiones según el papel de la empresa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812280" y="3858768"/>
            <a:ext cx="4583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 en forma automática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4078224"/>
            <a:ext cx="45838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es buena: a mano el acierto direccional duplica al método actual. Pero el modelo no identifica el papel. Queda asignarlo a mano sobre ~130 artículos.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83680" y="4672584"/>
            <a:ext cx="5041087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812280" y="4800600"/>
            <a:ext cx="4583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Hechos de Importancia como segunda fuente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6812280" y="5074920"/>
            <a:ext cx="4583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ADOPTADA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5294376"/>
            <a:ext cx="45838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mejor (53.4 % material) pero no resuelve lo que se le pidió. Detalle en la lámina anterior.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sin solución dentro del alcance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al capítulo de limitaciones tal cual. Se listan para que usted diga cuál de ellas es más grave de lo que parece.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39496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92808"/>
            <a:ext cx="274320" cy="274320"/>
          </a:xfrm>
          <a:prstGeom prst="ellipse">
            <a:avLst/>
          </a:prstGeom>
          <a:solidFill>
            <a:srgbClr val="3E6B7E"/>
          </a:solidFill>
          <a:ln w="12700">
            <a:solidFill>
              <a:srgbClr val="3E6B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8470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de prensa insuficiente en media cartera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2585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Pacasmayo 8.2 y Ferreycorp 6.8 eventos/año contra 43.5 de InRetail. No hay fuente que lo resuelva.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063240"/>
            <a:ext cx="539496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264408"/>
            <a:ext cx="274320" cy="274320"/>
          </a:xfrm>
          <a:prstGeom prst="ellipse">
            <a:avLst/>
          </a:prstGeom>
          <a:solidFill>
            <a:srgbClr val="3E6B7E"/>
          </a:solidFill>
          <a:ln w="12700">
            <a:solidFill>
              <a:srgbClr val="3E6B7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32186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mercado anticipa lo que ninguna fuente pública muestra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6301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Luz del Sur subió 43 % antes del hecho de importancia que anunció su venta.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434840"/>
            <a:ext cx="539496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636008"/>
            <a:ext cx="274320" cy="274320"/>
          </a:xfrm>
          <a:prstGeom prst="ellipse">
            <a:avLst/>
          </a:prstGeom>
          <a:solidFill>
            <a:srgbClr val="3E6B7E"/>
          </a:solidFill>
          <a:ln w="12700">
            <a:solidFill>
              <a:srgbClr val="3E6B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636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5902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clasifica sobre titulares, sin el cuerpo del artículo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50017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proveedor no entrega el texto completo. La anotación humana se hizo con la misma información, así que la tarea es alcanzable: el techo es el titular.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90488" y="1691640"/>
            <a:ext cx="539496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1892808"/>
            <a:ext cx="274320" cy="274320"/>
          </a:xfrm>
          <a:prstGeom prst="ellipse">
            <a:avLst/>
          </a:prstGeom>
          <a:solidFill>
            <a:srgbClr val="3E6B7E"/>
          </a:solidFill>
          <a:ln w="12700">
            <a:solidFill>
              <a:srgbClr val="3E6B7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30568" y="18470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volumen negociado no es confiable a nivel diario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830568" y="22585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usó la frecuencia de negociación de los informes bursátiles mensuales de la BVL como sustituto para medir capacidad.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90488" y="3063240"/>
            <a:ext cx="5394960" cy="1207008"/>
          </a:xfrm>
          <a:prstGeom prst="roundRect">
            <a:avLst>
              <a:gd name="adj" fmla="val 4545"/>
            </a:avLst>
          </a:prstGeom>
          <a:solidFill>
            <a:srgbClr val="F0E4DB"/>
          </a:solidFill>
          <a:ln w="12700">
            <a:solidFill>
              <a:srgbClr val="F0E4DB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46520" y="3264408"/>
            <a:ext cx="274320" cy="274320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46520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830568" y="32186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muestra es chica para aprendizaje profundo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830568" y="36301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~3,500 días por siete activos. Es el argumento para favorecer arquitecturas simples, regularización fuerte y desconfiar de cualquier resultado que dependa de una sola corrida.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0488" y="4434840"/>
            <a:ext cx="5394960" cy="1325880"/>
          </a:xfrm>
          <a:prstGeom prst="roundRect">
            <a:avLst>
              <a:gd name="adj" fmla="val 4138"/>
            </a:avLst>
          </a:prstGeom>
          <a:solidFill>
            <a:srgbClr val="12232E"/>
          </a:solidFill>
          <a:ln w="12700">
            <a:solidFill>
              <a:srgbClr val="12232E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464808" y="45720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6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P10 — Lo que no estamos viendo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64808" y="491947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todo lo descrito, ¿qué supuesto le parece más frágil? Es la pregunta más valiosa de la lista.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Siete decisiones abiertas: juicio de inversión, no de código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F0E4DB"/>
          </a:solidFill>
          <a:ln w="12700">
            <a:solidFill>
              <a:srgbClr val="F0E4DB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664208"/>
            <a:ext cx="347472" cy="347472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103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Función objetivo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63347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acumulado, Sharpe, Sortino, retorno penalizado por drawdown o exceso sobre benchmark. Ninguna es obviamente correcta.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4992" y="146304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F0E4DB"/>
          </a:solidFill>
          <a:ln w="12700">
            <a:solidFill>
              <a:srgbClr val="F0E4DB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93592" y="1664208"/>
            <a:ext cx="347472" cy="347472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93592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2103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Costos y slippage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63347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 observados de 8 a 220 pbs de ida y vuelta. Cruzar el spread de Luz del Sur cuesta ~110 pbs.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146304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91656" y="1664208"/>
            <a:ext cx="347472" cy="347472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91656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91656" y="2103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 del portafolio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391656" y="263347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liquidez observada, el tamaño realista es del orden de S/ 1.8 millones. El activo que lo limita es BCP.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61120" y="146304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89720" y="1664208"/>
            <a:ext cx="347472" cy="347472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89720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2103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Días sin negociación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189720" y="263347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le impide al agente operar ese activo ese día, o se le permite y se le penaliza el intento?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365760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5528" y="3858768"/>
            <a:ext cx="347472" cy="347472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" y="42976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Tasa libre de riesgo y benchmark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95528" y="482803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recompensa usa Sharpe o exceso de retorno hace falta una tasa libre de riesgo, y hoy no está en el panel.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64992" y="365760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93592" y="3858768"/>
            <a:ext cx="347472" cy="347472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93592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593592" y="42976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Normalización de señales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3593592" y="482803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y probablemente por activo, dado que los siete tienen escalas muy distintas. Falta fijar la ventana.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63056" y="365760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F0E4DB"/>
          </a:solidFill>
          <a:ln w="12700">
            <a:solidFill>
              <a:srgbClr val="F0E4DB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91656" y="3858768"/>
            <a:ext cx="347472" cy="347472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91656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391656" y="42976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de evaluación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6391656" y="482803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Baselines: comprar y mantener, 1/N, momentum y media-varianza. A fijar ANTES de entrenar.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961120" y="365760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12232E"/>
          </a:solidFill>
          <a:ln w="12700">
            <a:solidFill>
              <a:srgbClr val="12232E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9217152" y="3931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tres en tono ámbar son las que decide OE1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9217152" y="5029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preliminar a continuación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2 Y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costo deja de ser un detalle y pasa a ser la decisión central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de compra-venta observado, ida y vuelta (puntos básicos)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084832"/>
            <a:ext cx="10424160" cy="146304"/>
          </a:xfrm>
          <a:prstGeom prst="rect">
            <a:avLst/>
          </a:prstGeom>
          <a:solidFill>
            <a:srgbClr val="E4E9EB"/>
          </a:solidFill>
          <a:ln w="12700">
            <a:solidFill>
              <a:srgbClr val="E4E9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1219" y="1956816"/>
            <a:ext cx="402336" cy="402336"/>
          </a:xfrm>
          <a:prstGeom prst="ellipse">
            <a:avLst/>
          </a:prstGeom>
          <a:solidFill>
            <a:srgbClr val="3E6B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547" y="1600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pbs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-259213" y="2450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Alicorp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534108" y="1956816"/>
            <a:ext cx="402336" cy="402336"/>
          </a:xfrm>
          <a:prstGeom prst="ellipse">
            <a:avLst/>
          </a:prstGeom>
          <a:solidFill>
            <a:srgbClr val="B46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29436" y="1600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6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~110 pbs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63676" y="2450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el spread de Luz del Sur una vez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519576" y="1956816"/>
            <a:ext cx="402336" cy="402336"/>
          </a:xfrm>
          <a:prstGeom prst="ellipse">
            <a:avLst/>
          </a:prstGeom>
          <a:solidFill>
            <a:srgbClr val="8E4B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14904" y="1600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E4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 pbs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349144" y="2450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Luz del Sur, ida y vuelta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15468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12232E"/>
          </a:solidFill>
          <a:ln w="12700">
            <a:solidFill>
              <a:srgbClr val="12232E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1248" y="33101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6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orden de magnitud de diferencia entre nombres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363931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estos números la frecuencia de rebalanceo deja de ser un detalle de implementación: es la decisión que determina si existe o no una ventaja.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90488" y="315468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64808" y="32735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S/ 1.8 millones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464808" y="382219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realista del portafolio con la liquidez observada. El activo que lo limita es BCP.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4709160"/>
            <a:ext cx="11057839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41248" y="4800600"/>
            <a:ext cx="105091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4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Frecuencia de rebalanceo.  </a:t>
            </a:r>
            <a:r>
              <a:rPr lang="en-US" sz="13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spreads de 8 a 220 pbs, ¿a qué frecuencia tiene sentido rebalancear una cartera de siete nombres de la BVL? ¿Diaria es directamente inviable? ¿Semanal, mensual?  </a:t>
            </a:r>
            <a:r>
              <a:rPr lang="en-US" sz="13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invalidar el diseño entero del entorno.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822960"/>
            <a:ext cx="4206240" cy="4206240"/>
          </a:xfrm>
          <a:prstGeom prst="ellipse">
            <a:avLst/>
          </a:prstGeom>
          <a:solidFill>
            <a:srgbClr val="1D3A47"/>
          </a:solidFill>
          <a:ln w="12700">
            <a:solidFill>
              <a:srgbClr val="1D3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12680" y="1965960"/>
            <a:ext cx="1920240" cy="1920240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PRELIMINAR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468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OE1 — Función de recompensa,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 del riesgo y del costo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931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 está redactado y cruzado con lo ya medido en el proyecto (spreads 8-220 pbs, piso de ejecutabilidad 90.5 %, capacidad ~S/ 1.8 MM). No está cerrado: es exactamente lo que se somete a su crítica.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OE1 · LITERATURA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familias de recompensa, y un orden histórico nítido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429000" cy="914400"/>
          </a:xfrm>
          <a:prstGeom prst="roundRect">
            <a:avLst>
              <a:gd name="adj" fmla="val 6000"/>
            </a:avLst>
          </a:prstGeom>
          <a:solidFill>
            <a:srgbClr val="D8DEE1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6459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25296" y="149961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Retorno puro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225296" y="1947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default de la mayoría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270248" y="1481328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 como ruidoso, con gradiente de alta varianza e inestable.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404872"/>
            <a:ext cx="3429000" cy="914400"/>
          </a:xfrm>
          <a:prstGeom prst="roundRect">
            <a:avLst>
              <a:gd name="adj" fmla="val 6000"/>
            </a:avLst>
          </a:prstGeom>
          <a:solidFill>
            <a:srgbClr val="3E6B7E"/>
          </a:solidFill>
          <a:ln w="12700">
            <a:solidFill>
              <a:srgbClr val="3E6B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" y="26791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25296" y="25328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 diferencial (DSR)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225296" y="29809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9E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Moody, Wu, Liao y Saffell, 1998/2001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270248" y="2514600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que el Sharpe se define sobre un período T mientras el RL necesita señal por paso: es su derivada respecto al último dato, con estimadores exponenciales. Sigue siendo el estándar.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438144"/>
            <a:ext cx="3429000" cy="914400"/>
          </a:xfrm>
          <a:prstGeom prst="roundRect">
            <a:avLst>
              <a:gd name="adj" fmla="val 6000"/>
            </a:avLst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" y="371246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25296" y="35661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Razón de downside diferencial (DDR)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225296" y="4014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9E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autores, misma mecánica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270248" y="3547872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Semivarianza en vez de varianza. Es el análogo incremental del Sortino.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471416"/>
            <a:ext cx="3429000" cy="914400"/>
          </a:xfrm>
          <a:prstGeom prst="roundRect">
            <a:avLst>
              <a:gd name="adj" fmla="val 6000"/>
            </a:avLst>
          </a:prstGeom>
          <a:solidFill>
            <a:srgbClr val="12232E"/>
          </a:solidFill>
          <a:ln w="12700">
            <a:solidFill>
              <a:srgbClr val="1223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" y="474573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25296" y="45994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CVaR, drawdown y RL distribuciónal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225296" y="5047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9E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frontera activa 2024-2026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270248" y="4581144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-menor CVaR y drawdown que el RL neutral al riesgo- pero estima una distribución completa. Con ~3,400 días de una sola trayectoria, no da.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1371600"/>
            <a:ext cx="3395167" cy="4114800"/>
          </a:xfrm>
          <a:prstGeom prst="roundRect">
            <a:avLst>
              <a:gd name="adj" fmla="val 1616"/>
            </a:avLst>
          </a:prstGeom>
          <a:solidFill>
            <a:srgbClr val="F0E4DB"/>
          </a:solidFill>
          <a:ln w="12700">
            <a:solidFill>
              <a:srgbClr val="F0E4DB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58200" y="1554480"/>
            <a:ext cx="29379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E4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importante es lo que la evidencia NO sostiene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458200" y="2148840"/>
            <a:ext cx="2937967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recompensa ganadora universal. Los comparativos recientes (5 variantes x PPO/SAC/TD3) encuentran que la mejor depende del activo y del régimen.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Elegirla después de ver resultados es exactamente el sobreajuste que la tesis debe evitar.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Sharpe publicados de 2.9-3.0 son casi siempre brutos de costo y sin corrección por selección. No son la vara.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907024"/>
            <a:ext cx="11057839" cy="621792"/>
          </a:xfrm>
          <a:prstGeom prst="roundRect">
            <a:avLst>
              <a:gd name="adj" fmla="val 11765"/>
            </a:avLst>
          </a:prstGeom>
          <a:solidFill>
            <a:srgbClr val="F0E4DB"/>
          </a:solidFill>
          <a:ln w="12700">
            <a:solidFill>
              <a:srgbClr val="F0E4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" y="6053328"/>
            <a:ext cx="329184" cy="329184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" y="6053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1225296" y="5971032"/>
            <a:ext cx="101891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¿Qué optimiza realmente un director de portafolios en un mercado como este? ¿Tiene sentido que un agente maximice Sharpe diario?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OE1 · PUNTO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"Riesgo" vive en tres lugares distintos, y hay que separarlos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típico es meterlo todo en la recompensa.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352044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73736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3E6B7E"/>
          </a:solidFill>
          <a:ln w="12700">
            <a:solidFill>
              <a:srgbClr val="3E6B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1810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Recompensa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945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2E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PREFERENCIA SUAVE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697480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agente prefiere en promedio: menos semivarianza a igualdad de retorno. Se cumple en promedio, y solo si entreno bien.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06824" y="1737360"/>
            <a:ext cx="352044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06824" y="173736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81144" y="1810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Restricción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21945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2E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DUROS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81144" y="2697480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Long-only, tope por emisor, no operar sin cotización. Entra como máscara sobre los pesos, no como penalización. Un mandato dice "máximo 25 % por emisor", no "te penalizo si te pasas".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1737360"/>
            <a:ext cx="352044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173736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12232E"/>
          </a:solidFill>
          <a:ln w="12700">
            <a:solidFill>
              <a:srgbClr val="1223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1810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1945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2E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EX POST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697480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debe coincidir con la recompensa. Si el agente maximiza Sharpe y se lo juzga por Sharpe, el resultado es tautológico.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709160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41248" y="4800600"/>
            <a:ext cx="105091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la distinción.  </a:t>
            </a: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restricción se cumple SIEMPRE; la penalización solo en promedio. Un mandato de concentración no es una preferencia: es un límite. Meterlo en la recompensa lo convierte en negociable.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OE1 · PUNTO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recompensa primaria propuesta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051560"/>
          </a:xfrm>
          <a:prstGeom prst="roundRect">
            <a:avLst>
              <a:gd name="adj" fmla="val 5217"/>
            </a:avLst>
          </a:prstGeom>
          <a:solidFill>
            <a:srgbClr val="12232E"/>
          </a:solidFill>
          <a:ln w="12700">
            <a:solidFill>
              <a:srgbClr val="12232E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32688" y="141732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r(t)  =  log[ V(t) / V(t−1) ]   −   λ · ΔD(t)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148132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valor neto de costos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ΔD = semidesviación incremental (DDR)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60604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0E4DB"/>
          </a:solidFill>
          <a:ln w="12700">
            <a:solidFill>
              <a:srgbClr val="F0E4DB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41248" y="27432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E4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semivarianza y no varianza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090672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universo el retorno bueno viene a saltos -cobre y estaño para Minsur-. El Sharpe castigaría la volatilidad al alza, que es justo lo que se quiere capturar.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0488" y="260604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64808" y="27432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dos variantes de sensibilidad, y no más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6464808" y="31089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DSR clásico de Moody-Saffell (varianza completa).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0, es decir log-retorno neto puro.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variante adicional multiplica el número de pruebas y degrada el Sharpe deflactado.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44805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1248" y="45902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detalle que no es cosmético: cualquier término histórico rompe Markov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937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Varianza, Sharpe o drawdown dependen del pasado, así que los estadísticos exponenciales TIENEN que entrar en el vector de observación. Es la razón de fondo para preferir la forma diferencial de Moody-Saffell a "calcular el Sharpe al final del episodio", y es lo que descarta el drawdown máximo como recompensa.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OE1 · PUNTOS 3 Y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fija λ, y por qué el costo domina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12064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00200"/>
            <a:ext cx="384048" cy="384048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60934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 se fija por escala, no por desempeño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488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 1/N sobre el tramo de entrenamiento y elegir λ tal que el término de riesgo pese aproximadamente 25 % de la magnitud media de esa recompensa.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λ hasta que el resultado se vea bien es sobreajuste con nombre técnico.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931920"/>
            <a:ext cx="5120640" cy="1828800"/>
          </a:xfrm>
          <a:prstGeom prst="roundRect">
            <a:avLst>
              <a:gd name="adj" fmla="val 3000"/>
            </a:avLst>
          </a:prstGeom>
          <a:solidFill>
            <a:srgbClr val="F0E4DB"/>
          </a:solidFill>
          <a:ln w="12700">
            <a:solidFill>
              <a:srgbClr val="F0E4DB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1248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E4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métrica principal de la tesis cambia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438912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 a ser el COSTO DE EQUILIBRIO: a qué nivel de costo se evapora la ventaja. Se evalúa sobre la grilla completa, porque la grilla anterior hasta 100 pbs se queda corta frente a los 220 observados.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1417320"/>
            <a:ext cx="5681167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600200"/>
            <a:ext cx="384048" cy="384048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160934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costo es el término dominante, no un detalle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148840"/>
            <a:ext cx="5132527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ACTIVO, no único. Alicorp 8 pbs contra Luz del Sur 220 es un orden de magnitud: un costo único haría que el agente no distinga entre rotar uno y otro, que es justamente la decisión que importa.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Descontado DENTRO de V_neto y sin penalizador de turnover adicional: sería cobrar dos veces.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de no-operación, para que la frecuencia efectiva de rebalanceo la elija el agente según el costo, en vez de imponerla a mano.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4663440"/>
            <a:ext cx="56811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Grilla de costo de equilibrio, en puntos básicos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4956048"/>
            <a:ext cx="777240" cy="566928"/>
          </a:xfrm>
          <a:prstGeom prst="roundRect">
            <a:avLst>
              <a:gd name="adj" fmla="val 9677"/>
            </a:avLst>
          </a:prstGeom>
          <a:solidFill>
            <a:srgbClr val="3E6B7E"/>
          </a:solidFill>
          <a:ln w="12700">
            <a:solidFill>
              <a:srgbClr val="3E6B7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0" y="49560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39712" y="4956048"/>
            <a:ext cx="777240" cy="566928"/>
          </a:xfrm>
          <a:prstGeom prst="roundRect">
            <a:avLst>
              <a:gd name="adj" fmla="val 9677"/>
            </a:avLst>
          </a:prstGeom>
          <a:solidFill>
            <a:srgbClr val="3E6B7E"/>
          </a:solidFill>
          <a:ln w="12700">
            <a:solidFill>
              <a:srgbClr val="3E6B7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39712" y="49560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735824" y="4956048"/>
            <a:ext cx="777240" cy="566928"/>
          </a:xfrm>
          <a:prstGeom prst="roundRect">
            <a:avLst>
              <a:gd name="adj" fmla="val 9677"/>
            </a:avLst>
          </a:prstGeom>
          <a:solidFill>
            <a:srgbClr val="3E6B7E"/>
          </a:solidFill>
          <a:ln w="12700">
            <a:solidFill>
              <a:srgbClr val="3E6B7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35824" y="49560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631936" y="4956048"/>
            <a:ext cx="777240" cy="566928"/>
          </a:xfrm>
          <a:prstGeom prst="roundRect">
            <a:avLst>
              <a:gd name="adj" fmla="val 9677"/>
            </a:avLst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31936" y="49560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528048" y="4956048"/>
            <a:ext cx="777240" cy="566928"/>
          </a:xfrm>
          <a:prstGeom prst="roundRect">
            <a:avLst>
              <a:gd name="adj" fmla="val 9677"/>
            </a:avLst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528048" y="49560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424160" y="4956048"/>
            <a:ext cx="777240" cy="566928"/>
          </a:xfrm>
          <a:prstGeom prst="roundRect">
            <a:avLst>
              <a:gd name="adj" fmla="val 9677"/>
            </a:avLst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424160" y="49560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631936" y="5577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tramos nuevos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OE1 · PUNTO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pre-registrada: la banda nula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685800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645920"/>
            <a:ext cx="256032" cy="256032"/>
          </a:xfrm>
          <a:prstGeom prst="ellipse">
            <a:avLst/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52728" y="15636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Banda nula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133088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carteras aleatorias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1947672"/>
            <a:ext cx="598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Dirichlet, mismas restricciones y mismos costos. Si el agente cae dentro de esa banda, no hay hallazgo. Es la pieza que casi ningún paper reporta.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880360"/>
            <a:ext cx="685800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9536" y="3108960"/>
            <a:ext cx="256032" cy="256032"/>
          </a:xfrm>
          <a:prstGeom prst="ellipse">
            <a:avLst/>
          </a:prstGeom>
          <a:solidFill>
            <a:srgbClr val="3E6B7E"/>
          </a:solidFill>
          <a:ln w="12700">
            <a:solidFill>
              <a:srgbClr val="3E6B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52728" y="30266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 deflactado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133088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3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Bailey y López de Prado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52728" y="3410712"/>
            <a:ext cx="598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contador de configuraciones desde la PRIMERA corrida. Con 4 vistas x 3 recompensas x 3 λ x semillas, el máximo de muchas pruebas ruidosas se ve bien por construcción.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343400"/>
            <a:ext cx="685800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" y="4572000"/>
            <a:ext cx="256032" cy="256032"/>
          </a:xfrm>
          <a:prstGeom prst="ellipse">
            <a:avLst/>
          </a:prstGeom>
          <a:solidFill>
            <a:srgbClr val="12232E"/>
          </a:solidFill>
          <a:ln w="12700">
            <a:solidFill>
              <a:srgbClr val="1223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52728" y="44897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133088" y="4526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Cuatro, fijados de antemano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873752"/>
            <a:ext cx="598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y mantener, equiponderado 1/N, momentum y media-varianza. Métricas: retorno acumulado, Sharpe, Sortino, máximo drawdown y rotación.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1417320"/>
            <a:ext cx="3852367" cy="4297680"/>
          </a:xfrm>
          <a:prstGeom prst="roundRect">
            <a:avLst>
              <a:gd name="adj" fmla="val 1424"/>
            </a:avLst>
          </a:prstGeom>
          <a:solidFill>
            <a:srgbClr val="12232E"/>
          </a:solidFill>
          <a:ln w="12700">
            <a:solidFill>
              <a:srgbClr val="12232E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065008" y="1645920"/>
            <a:ext cx="32671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46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aguijón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065008" y="2103120"/>
            <a:ext cx="326715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tratamiento honesto del costo puede borrar la ventaja.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065008" y="2926080"/>
            <a:ext cx="3267151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edge solo aparece a costo cero, el hallazgo es "no hay ventaja explotable en la BVL con estas señales". Es legítimo y más valioso que un Sharpe bruto de costos, pero cambia la narrativa de la tesis.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8D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decirlo hoy que al escribir conclusiones.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566160"/>
            <a:ext cx="3840480" cy="3840480"/>
          </a:xfrm>
          <a:prstGeom prst="ellipse">
            <a:avLst/>
          </a:prstGeom>
          <a:solidFill>
            <a:srgbClr val="1D3A47"/>
          </a:solidFill>
          <a:ln w="12700">
            <a:solidFill>
              <a:srgbClr val="1D3A4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1280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OE1 · LA PREGUNTA QUE MÁS CAMBIARÍA EL TRABAJO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830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el gestor local no piensa en Sharpe</a:t>
            </a:r>
            <a:endParaRPr lang="en-US" sz="28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sino en no quedar detrás del índice,</a:t>
            </a:r>
            <a:endParaRPr lang="en-US" sz="28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recompensa debería llevar tracking error</a:t>
            </a:r>
            <a:endParaRPr lang="en-US" sz="28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no volatilidad absoluta.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4434840"/>
            <a:ext cx="7680960" cy="777240"/>
          </a:xfrm>
          <a:prstGeom prst="roundRect">
            <a:avLst>
              <a:gd name="adj" fmla="val 9412"/>
            </a:avLst>
          </a:prstGeom>
          <a:solidFill>
            <a:srgbClr val="B4653A"/>
          </a:solidFill>
          <a:ln w="12700">
            <a:solidFill>
              <a:srgbClr val="B465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44348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Esa respuesta reescribe entera la sección de la recompensa.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54406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E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Ligado a P3 — ¿Contra qué índice se compara honestamente una cartera de siete acciones peruanas, dada la composición de los índices locales?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FINAL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Diez preguntas, ordenadas por cuánto cambian el trabajo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0E4DB"/>
          </a:solidFill>
          <a:ln w="12700">
            <a:solidFill>
              <a:srgbClr val="F0E4DB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42646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E4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538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Frecuencia de rebalanceo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3736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spreads de 8 a 220 pbs, ¿es viable diaria? ¿Semanal, mensual?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267712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0E4DB"/>
          </a:solidFill>
          <a:ln w="12700">
            <a:solidFill>
              <a:srgbClr val="F0E4DB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68096" y="232257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E4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3500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Función objetivo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63347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optimiza realmente un director de portafolios acá: Sharpe, drawdown, tracking error?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163824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0E4DB"/>
          </a:solidFill>
          <a:ln w="12700">
            <a:solidFill>
              <a:srgbClr val="F0E4DB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68096" y="321868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E4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2461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Sentimiento de prensa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2958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prensa local anticipa o registra? ¿Vale la pena el canal?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059936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68096" y="411480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1422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justo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42569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¿Son suficientes los cuatro baselines? ¿Contra qué índice se compara honestamente?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956048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68096" y="501091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0383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Restricciones realistas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32180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¿Solo largos y sin apalancamiento es correcto? ¿Qué límite de concentración por emisor?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90488" y="1371600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391656" y="142646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14538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Fundamentales y tiempo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173736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¿Un rezago mediano de 10 días en un indicador trimestral cambia una decisión?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90488" y="2267712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391656" y="232257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P7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995160" y="23500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Quiebres de régimen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6995160" y="263347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Commodities, crisis política 2016-2023, pandemia, Castillo. ¿Qué subperíodo trataría aparte?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90488" y="3163824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391656" y="321868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P8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6995160" y="32461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universo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6995160" y="352958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¿Siete nombres alcanzan? ¿Agregaría efectivo remunerado o renta fija?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90488" y="4059936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391656" y="411480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P9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6995160" y="41422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6995160" y="442569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¿S/ 1.8 MM es un tamaño creíble, o el ejercicio pierde interés práctico?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90488" y="4956048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0E4DB"/>
          </a:solidFill>
          <a:ln w="12700">
            <a:solidFill>
              <a:srgbClr val="F0E4DB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6391656" y="501091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E4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P10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6995160" y="50383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 estamos viendo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6995160" y="532180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supuesto le parece más frágil? Es la pregunta más valiosa de la lista.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66928" y="5888736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12232E"/>
          </a:solidFill>
          <a:ln w="12700">
            <a:solidFill>
              <a:srgbClr val="12232E"/>
            </a:solidFill>
            <a:prstDash val="solid"/>
          </a:ln>
          <a:effectLst>
            <a:outerShdw blurRad="101600" dist="25400" dir="5400000" algn="bl" rotWithShape="0">
              <a:srgbClr val="9AA5AB">
                <a:alpha val="28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886968" y="5888736"/>
            <a:ext cx="10417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tiempo se acorta: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(frecuencia de rebalanceo), P2 (función objetivo) y P5 (si la prensa anticipa o registra). Las tres pueden cambiar el diseño, y las tres son cosas que un practicante sabe y nosotros no podemos medir.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4561</Words>
  <Application>Microsoft Office PowerPoint</Application>
  <PresentationFormat>Panorámica</PresentationFormat>
  <Paragraphs>429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DRL aplicado a la BVL - Sesion con especialista</dc:title>
  <dc:subject>PptxGenJS Presentation</dc:subject>
  <dc:creator>Rodrigo Holguín</dc:creator>
  <cp:lastModifiedBy>LENOVO</cp:lastModifiedBy>
  <cp:revision>3</cp:revision>
  <dcterms:created xsi:type="dcterms:W3CDTF">2026-09-02T20:47:57Z</dcterms:created>
  <dcterms:modified xsi:type="dcterms:W3CDTF">2026-09-02T22:47:47Z</dcterms:modified>
</cp:coreProperties>
</file>